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064dc94e7148e5" /><Relationship Type="http://schemas.openxmlformats.org/officeDocument/2006/relationships/extended-properties" Target="/docProps/app.xml" Id="R13b40b2fa766440f" /><Relationship Type="http://schemas.openxmlformats.org/officeDocument/2006/relationships/officeDocument" Target="/ppt/presentation.xml" Id="R24005a2ce70b44a4" /></Relationships>
</file>

<file path=ppt/presentation.xml><?xml version="1.0" encoding="utf-8"?>
<p:presentation xmlns:p="http://schemas.openxmlformats.org/presentationml/2006/main">
  <p:sldMasterIdLst>
    <p:sldMasterId xmlns:r="http://schemas.openxmlformats.org/officeDocument/2006/relationships" id="2147483648" r:id="Rec04d6891a1447ab"/>
  </p:sldMasterIdLst>
  <p:notesMasterIdLst>
    <p:notesMasterId xmlns:r="http://schemas.openxmlformats.org/officeDocument/2006/relationships" r:id="R59c9c0323f5244a6"/>
  </p:notesMasterIdLst>
  <p:sldIdLst>
    <p:sldId xmlns:r="http://schemas.openxmlformats.org/officeDocument/2006/relationships" id="256" r:id="Rb25f15b0822748e5"/>
    <p:sldId xmlns:r="http://schemas.openxmlformats.org/officeDocument/2006/relationships" id="257" r:id="Raf0fd11a0aa44ae3"/>
    <p:sldId xmlns:r="http://schemas.openxmlformats.org/officeDocument/2006/relationships" id="258" r:id="Rd5be423261de4393"/>
    <p:sldId xmlns:r="http://schemas.openxmlformats.org/officeDocument/2006/relationships" id="259" r:id="Rfc6dfe22cd784c00"/>
    <p:sldId xmlns:r="http://schemas.openxmlformats.org/officeDocument/2006/relationships" id="260" r:id="Rf281eb19a4274cab"/>
    <p:sldId xmlns:r="http://schemas.openxmlformats.org/officeDocument/2006/relationships" id="261" r:id="R1e04e959e4544f06"/>
    <p:sldId xmlns:r="http://schemas.openxmlformats.org/officeDocument/2006/relationships" id="262" r:id="R32dd363221b04d32"/>
    <p:sldId xmlns:r="http://schemas.openxmlformats.org/officeDocument/2006/relationships" id="263" r:id="R928c8427ac6a4ced"/>
    <p:sldId xmlns:r="http://schemas.openxmlformats.org/officeDocument/2006/relationships" id="264" r:id="R0351fdf6275245c0"/>
    <p:sldId xmlns:r="http://schemas.openxmlformats.org/officeDocument/2006/relationships" id="265" r:id="R24e60c7c94e344c0"/>
    <p:sldId xmlns:r="http://schemas.openxmlformats.org/officeDocument/2006/relationships" id="266" r:id="R08a2caedbb314fef"/>
    <p:sldId xmlns:r="http://schemas.openxmlformats.org/officeDocument/2006/relationships" id="267" r:id="R31ce3b4ca30f4bf7"/>
    <p:sldId xmlns:r="http://schemas.openxmlformats.org/officeDocument/2006/relationships" id="268" r:id="Rdf6b6e8b03bc48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cca35872144a72" /><Relationship Type="http://schemas.openxmlformats.org/officeDocument/2006/relationships/slideMaster" Target="/ppt/slideMasters/slideMaster1.xml" Id="Rec04d6891a1447ab" /><Relationship Type="http://schemas.openxmlformats.org/officeDocument/2006/relationships/notesMaster" Target="/ppt/notesMasters/notesMaster1.xml" Id="R59c9c0323f5244a6" /><Relationship Type="http://schemas.openxmlformats.org/officeDocument/2006/relationships/presProps" Target="/ppt/presProps.xml" Id="Rc434599cff814311" /><Relationship Type="http://schemas.openxmlformats.org/officeDocument/2006/relationships/tableStyles" Target="/ppt/tableStyles.xml" Id="Raba339b67b1b4c17" /><Relationship Type="http://schemas.openxmlformats.org/officeDocument/2006/relationships/slide" Target="/ppt/slides/slide1.xml" Id="Rb25f15b0822748e5" /><Relationship Type="http://schemas.openxmlformats.org/officeDocument/2006/relationships/slide" Target="/ppt/slides/slide2.xml" Id="Raf0fd11a0aa44ae3" /><Relationship Type="http://schemas.openxmlformats.org/officeDocument/2006/relationships/slide" Target="/ppt/slides/slide3.xml" Id="Rd5be423261de4393" /><Relationship Type="http://schemas.openxmlformats.org/officeDocument/2006/relationships/slide" Target="/ppt/slides/slide4.xml" Id="Rfc6dfe22cd784c00" /><Relationship Type="http://schemas.openxmlformats.org/officeDocument/2006/relationships/slide" Target="/ppt/slides/slide5.xml" Id="Rf281eb19a4274cab" /><Relationship Type="http://schemas.openxmlformats.org/officeDocument/2006/relationships/slide" Target="/ppt/slides/slide6.xml" Id="R1e04e959e4544f06" /><Relationship Type="http://schemas.openxmlformats.org/officeDocument/2006/relationships/slide" Target="/ppt/slides/slide7.xml" Id="R32dd363221b04d32" /><Relationship Type="http://schemas.openxmlformats.org/officeDocument/2006/relationships/slide" Target="/ppt/slides/slide8.xml" Id="R928c8427ac6a4ced" /><Relationship Type="http://schemas.openxmlformats.org/officeDocument/2006/relationships/slide" Target="/ppt/slides/slide9.xml" Id="R0351fdf6275245c0" /><Relationship Type="http://schemas.openxmlformats.org/officeDocument/2006/relationships/slide" Target="/ppt/slides/slide10.xml" Id="R24e60c7c94e344c0" /><Relationship Type="http://schemas.openxmlformats.org/officeDocument/2006/relationships/slide" Target="/ppt/slides/slide11.xml" Id="R08a2caedbb314fef" /><Relationship Type="http://schemas.openxmlformats.org/officeDocument/2006/relationships/slide" Target="/ppt/slides/slide12.xml" Id="R31ce3b4ca30f4bf7" /><Relationship Type="http://schemas.openxmlformats.org/officeDocument/2006/relationships/slide" Target="/ppt/slides/slide13.xml" Id="Rdf6b6e8b03bc48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435f40f90844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02c53784d649fb" /><Relationship Type="http://schemas.openxmlformats.org/officeDocument/2006/relationships/notesMaster" Target="/ppt/notesMasters/notesMaster1.xml" Id="Rc6704cb7368540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e1bd89b8ed4244" /><Relationship Type="http://schemas.openxmlformats.org/officeDocument/2006/relationships/notesMaster" Target="/ppt/notesMasters/notesMaster1.xml" Id="Rc36007a4988249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f16142bea34086" /><Relationship Type="http://schemas.openxmlformats.org/officeDocument/2006/relationships/notesMaster" Target="/ppt/notesMasters/notesMaster1.xml" Id="R8391a658f76645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27a627c79047fd" /><Relationship Type="http://schemas.openxmlformats.org/officeDocument/2006/relationships/notesMaster" Target="/ppt/notesMasters/notesMaster1.xml" Id="Re4094f840ef845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8239aa34ca4b9b" /><Relationship Type="http://schemas.openxmlformats.org/officeDocument/2006/relationships/notesMaster" Target="/ppt/notesMasters/notesMaster1.xml" Id="Rec107b71a2634f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dd198f39294d57" /><Relationship Type="http://schemas.openxmlformats.org/officeDocument/2006/relationships/notesMaster" Target="/ppt/notesMasters/notesMaster1.xml" Id="Rf4cd50fbe31f4e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49f58e7c2940c2" /><Relationship Type="http://schemas.openxmlformats.org/officeDocument/2006/relationships/notesMaster" Target="/ppt/notesMasters/notesMaster1.xml" Id="Ra83134b149fe4e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49810c619d485e" /><Relationship Type="http://schemas.openxmlformats.org/officeDocument/2006/relationships/notesMaster" Target="/ppt/notesMasters/notesMaster1.xml" Id="R547be178f24b48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37045856944fb4" /><Relationship Type="http://schemas.openxmlformats.org/officeDocument/2006/relationships/notesMaster" Target="/ppt/notesMasters/notesMaster1.xml" Id="R25adaf76ee854f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81c88cbec8402f" /><Relationship Type="http://schemas.openxmlformats.org/officeDocument/2006/relationships/notesMaster" Target="/ppt/notesMasters/notesMaster1.xml" Id="Re3974484b01541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fee231d5cc4aab" /><Relationship Type="http://schemas.openxmlformats.org/officeDocument/2006/relationships/notesMaster" Target="/ppt/notesMasters/notesMaster1.xml" Id="R84cff3c9c47545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b000bd490c4b42" /><Relationship Type="http://schemas.openxmlformats.org/officeDocument/2006/relationships/notesMaster" Target="/ppt/notesMasters/notesMaster1.xml" Id="R27c87640069d42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36928295eb45e7" /><Relationship Type="http://schemas.openxmlformats.org/officeDocument/2006/relationships/notesMaster" Target="/ppt/notesMasters/notesMaster1.xml" Id="R8315f725178c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Title</a:t>
            </a:r>
          </a:p>
          <a:p xmlns:a="http://schemas.openxmlformats.org/drawingml/2006/main">
            <a:r>
              <a:t>Target delivery: 25 seconds</a:t>
            </a:r>
          </a:p>
          <a:p xmlns:a="http://schemas.openxmlformats.org/drawingml/2006/main">
            <a:r>
              <a:t/>
            </a:r>
          </a:p>
          <a:p xmlns:a="http://schemas.openxmlformats.org/drawingml/2006/main">
            <a:r>
              <a:t>This project asks which vulnerabilities that are already known to be exploited become linked to ransomware. I joined the CISA KEV catalogue to CVE records and tested two questions: how quickly a CVE reaches KEV, and whether a listed CVE is associated with ransomware. The clearest finding is a failure: the original speed model was learning a calendar artefact.</a:t>
            </a:r>
          </a:p>
          <a:p xmlns:a="http://schemas.openxmlformats.org/drawingml/2006/main">
            <a:r>
              <a:t/>
            </a:r>
          </a:p>
          <a:p xmlns:a="http://schemas.openxmlformats.org/drawingml/2006/main">
            <a:r>
              <a:t>The title uses the requested wording. Throughout the talk, ransomware means the CISA Known ransomware-use label at the collection snapshot. This is a retrospective study, not a deployed forecasting service.</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Why it matters</a:t>
            </a:r>
          </a:p>
          <a:p xmlns:a="http://schemas.openxmlformats.org/drawingml/2006/main">
            <a:r>
              <a:t>Target delivery: 30 seconds</a:t>
            </a:r>
          </a:p>
          <a:p xmlns:a="http://schemas.openxmlformats.org/drawingml/2006/main">
            <a:r>
              <a:t/>
            </a:r>
          </a:p>
          <a:p xmlns:a="http://schemas.openxmlformats.org/drawingml/2006/main">
            <a:r>
              <a:t>CVSS describes technical severity. Defenders also need evidence about attacker behaviour and urgency. CISA KEV is useful because inclusion requires evidence of exploitation in the wild. That makes it a strong source of observed positive cases. It is still incomplete, and its date-added field tells us when CISA listed a vulnerability, not when the first attack happened. That distinction becomes central to the result.</a:t>
            </a:r>
          </a:p>
          <a:p xmlns:a="http://schemas.openxmlformats.org/drawingml/2006/main">
            <a:r>
              <a:t/>
            </a:r>
          </a:p>
          <a:p xmlns:a="http://schemas.openxmlformats.org/drawingml/2006/main">
            <a:r>
              <a:t/>
            </a:r>
          </a:p>
          <a:p xmlns:a="http://schemas.openxmlformats.org/drawingml/2006/main">
            <a:r>
              <a:t/>
            </a:r>
          </a:p>
          <a:p xmlns:a="http://schemas.openxmlformats.org/drawingml/2006/main">
            <a:r>
              <a:t>Sources: FIRST CVSS v3.1 user guide: https://www.first.org/cvss/v3.1/user-guide ; CISA KEV mirror: https://github.com/cisagov/kev-data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Two questions</a:t>
            </a:r>
          </a:p>
          <a:p xmlns:a="http://schemas.openxmlformats.org/drawingml/2006/main">
            <a:r>
              <a:t>Target delivery: 25 seconds</a:t>
            </a:r>
          </a:p>
          <a:p xmlns:a="http://schemas.openxmlformats.org/drawingml/2006/main">
            <a:r>
              <a:t/>
            </a:r>
          </a:p>
          <a:p xmlns:a="http://schemas.openxmlformats.org/drawingml/2006/main">
            <a:r>
              <a:t>Question one is regression: can ordinary CVE traits predict the delay from publication to KEV listing? Question two is classification: among already-exploited CVEs, can those traits distinguish known ransomware links? These are separate targets and separate models. One apparent success disappears when the catalogue history is taken seriously. The other retains a modest ranking signal.</a:t>
            </a:r>
          </a:p>
          <a:p xmlns:a="http://schemas.openxmlformats.org/drawingml/2006/main">
            <a:r>
              <a:t/>
            </a:r>
          </a:p>
          <a:p xmlns:a="http://schemas.openxmlformats.org/drawingml/2006/main">
            <a:r>
              <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Dataset</a:t>
            </a:r>
          </a:p>
          <a:p xmlns:a="http://schemas.openxmlformats.org/drawingml/2006/main">
            <a:r>
              <a:t>Target delivery: 40 seconds</a:t>
            </a:r>
          </a:p>
          <a:p xmlns:a="http://schemas.openxmlformats.org/drawingml/2006/main">
            <a:r>
              <a:t/>
            </a:r>
          </a:p>
          <a:p xmlns:a="http://schemas.openxmlformats.org/drawingml/2006/main">
            <a:r>
              <a:t>The join produced 1,694 unique CVEs with 39 raw columns and 283 vendors. The identifier years run from 2002 to 2026; actual publication dates begin in April 2003. The regression target subtracts CVE publication from KEV listing. The classification target treats CISA Known ransomware use as positive: 352 records, or 20.8 percent. The remaining records are not confirmed negatives; they have no known link in this snapshot. Every row is already a KEV positive for exploitation.</a:t>
            </a:r>
          </a:p>
          <a:p xmlns:a="http://schemas.openxmlformats.org/drawingml/2006/main">
            <a:r>
              <a:t/>
            </a:r>
          </a:p>
          <a:p xmlns:a="http://schemas.openxmlformats.org/drawingml/2006/main">
            <a:r>
              <a:t>If asked about coverage: publication dates are 2 April 2003 to 1 September 2026; KEV date-added dates are 3 November 2021 to 2 September 2026. Counts were checked against data/kev_cve_enriched_raw.csv.</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Cleaning and preprocessing</a:t>
            </a:r>
          </a:p>
          <a:p xmlns:a="http://schemas.openxmlformats.org/drawingml/2006/main">
            <a:r>
              <a:t>Target delivery: 60 seconds</a:t>
            </a:r>
          </a:p>
          <a:p xmlns:a="http://schemas.openxmlformats.org/drawingml/2006/main">
            <a:r>
              <a:t/>
            </a:r>
          </a:p>
          <a:p xmlns:a="http://schemas.openxmlformats.org/drawingml/2006/main">
            <a:r>
              <a:t>A missing vector does not mean low severity. Vectors are absent for 317 records, or 18.7 percent, and missingness is strongly associated with CVE age. I retain a NOT_ASSESSED category rather than discard those records. Missing numeric scores are separate: 62 were median-imputed. Rare vendor and weakness levels are grouped as OTHER. Explicit target-derived fields are excluded. The matrix has 64 features and uses an 80/20 split with seed 42. There is a validation limitation: the notebook fits some imputation and category decisions before splitting, and scales outside cross-validation folds. The next version should fit all learned preprocessing inside each training fold.</a:t>
            </a:r>
          </a:p>
          <a:p xmlns:a="http://schemas.openxmlformats.org/drawingml/2006/main">
            <a:r>
              <a:t/>
            </a:r>
          </a:p>
          <a:p xmlns:a="http://schemas.openxmlformats.org/drawingml/2006/main">
            <a:r>
              <a:t>Do not call the 212 records proven zero-days: 59 are listed before publication and 153 on the same day. Do not say the study establishes a formal missing-not-at-random mechanism. The missingness test is a Mann–Whitney comparison by CVE ID year, p = 1.534e-62. The pipeline diagram summarises stages; it does not claim safe fitting order.</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the data looks like</a:t>
            </a:r>
          </a:p>
          <a:p xmlns:a="http://schemas.openxmlformats.org/drawingml/2006/main">
            <a:r>
              <a:t>Target delivery: 55 seconds</a:t>
            </a:r>
          </a:p>
          <a:p xmlns:a="http://schemas.openxmlformats.org/drawingml/2006/main">
            <a:r>
              <a:t/>
            </a:r>
          </a:p>
          <a:p xmlns:a="http://schemas.openxmlformats.org/drawingml/2006/main">
            <a:r>
              <a:t>The lag distribution has a spike near publication and a long backlog. There are 212 records listed by publication day, 190 more listed one to seven days later, and 782 listed after a year. The cumulative within-a-week count is 402, so do not add 212 to it again. The clipped histogram makes the far tail visible as a pile-up at 1,500 days; that is a display cap, not the true maximum. Microsoft contributes 386 records, or 22.8 percent of KEV. This is a catalogue share. Without a denominator of installed products or vulnerabilities, it cannot estimate a vendor defect rate. Install base is a possible explanation, not something tested here.</a:t>
            </a:r>
          </a:p>
          <a:p xmlns:a="http://schemas.openxmlformats.org/drawingml/2006/main">
            <a:r>
              <a:t/>
            </a:r>
          </a:p>
          <a:p xmlns:a="http://schemas.openxmlformats.org/drawingml/2006/main">
            <a:r>
              <a:t>The original histogram and vendor panel are selected from the requested source figures without changing plotted observations. The original source figure calls lag&lt;=0 zero-day; the presentation uses the narrower date-based description.</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The calendar artefact</a:t>
            </a:r>
          </a:p>
          <a:p xmlns:a="http://schemas.openxmlformats.org/drawingml/2006/main">
            <a:r>
              <a:t>Target delivery: 100 seconds</a:t>
            </a:r>
          </a:p>
          <a:p xmlns:a="http://schemas.openxmlformats.org/drawingml/2006/main">
            <a:r>
              <a:t/>
            </a:r>
          </a:p>
          <a:p xmlns:a="http://schemas.openxmlformats.org/drawingml/2006/main">
            <a:r>
              <a:t>This is the key slide. On the left, publication year and lag look almost perfectly related: the correlation is minus 0.916. It is tempting to treat that pattern as attacker behaviour. But the catalogue did not exist before 3 November 2021. The target is date added minus publication date. A CVE published years before the catalogue opened therefore starts with years of unavoidable delay. Imagine a CVE published in 2010 and added at launch: it has an eleven-year lag even if exploitation had been known much earlier. An equally serious CVE published in 2022 can enter with only days of delay. The metric contains the catalogue history by arithmetic. Now look right. Restricting the sample to the 817 CVEs published on or after launch removes the pre-launch backlog. The correlation falls to minus 0.293. The remaining wedge may still reflect shorter observation windows for recent CVEs and listing practices. This correction does not prove attack speed is inherently unpredictable. It shows that this proxy is contaminated, and the broad-sample performance cannot be read as forecasting skill.</a:t>
            </a:r>
          </a:p>
          <a:p xmlns:a="http://schemas.openxmlformats.org/drawingml/2006/main">
            <a:r>
              <a:t/>
            </a:r>
          </a:p>
          <a:p xmlns:a="http://schemas.openxmlformats.org/drawingml/2006/main">
            <a:r>
              <a:t>Delivery: spend about 100 seconds here. Point to the left diagonal, explain the subtraction with the 2010 example, pause, then point to the right cloud. Examiner: "Why drop rows before 2021?" Answer: I did not delete them from the source data or classifier; I ran a sensitivity analysis for Q1 using the exact launch cutoff, 3 November 2021. Older records remain useful for describing KEV and ransomware labels.</a:t>
            </a:r>
          </a:p>
          <a:p xmlns:a="http://schemas.openxmlformats.org/drawingml/2006/main">
            <a:r>
              <a:t/>
            </a:r>
          </a:p>
          <a:p xmlns:a="http://schemas.openxmlformats.org/drawingml/2006/main">
            <a:r>
              <a:t>Sources: figures/kfig3_artefact.png; results_summary.json r_lag_year_all/r_lag_year_sub; notebook cell 37; CISA KEV mirror: https://github.com/cisagov/kev-data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Hypothesis tests</a:t>
            </a:r>
          </a:p>
          <a:p xmlns:a="http://schemas.openxmlformats.org/drawingml/2006/main">
            <a:r>
              <a:t>Target delivery: 45 seconds</a:t>
            </a:r>
          </a:p>
          <a:p xmlns:a="http://schemas.openxmlformats.org/drawingml/2006/main">
            <a:r>
              <a:t/>
            </a:r>
          </a:p>
          <a:p xmlns:a="http://schemas.openxmlformats.org/drawingml/2006/main">
            <a:r>
              <a:t>The tests ask whether the groups differ, not whether a classifier will be useful. Ransomware-linked records have a mean CVSS score only 0.275 points higher. The Welch test is statistically significant at p 0.00048, but Cohen d is just 0.21 and the densities overlap strongly. Automatability is also associated with the ransomware label: 25.7 versus 17.5 percent, with odds ratio 1.64. Yet Cramér V is only 0.098. The Kruskal–Wallis test for lag across severity bands is not rejected at p 0.063. With enough observations, a small difference can pass a significance test and still provide little individual discrimination.</a:t>
            </a:r>
          </a:p>
          <a:p xmlns:a="http://schemas.openxmlformats.org/drawingml/2006/main">
            <a:r>
              <a:t/>
            </a:r>
          </a:p>
          <a:p xmlns:a="http://schemas.openxmlformats.org/drawingml/2006/main">
            <a:r>
              <a:t>More detail if asked: Welch t=3.515; means 8.577 vs 8.302. Chi-square=16.29, p=5.4336e-5, odds ratio=1.635. Kruskal H=5.533, epsilon squared=0.0065. These results do not establish causality or a formal superiority comparison between automatability and CVSS.</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Q1 result</a:t>
            </a:r>
          </a:p>
          <a:p xmlns:a="http://schemas.openxmlformats.org/drawingml/2006/main">
            <a:r>
              <a:t>Target delivery: 45 seconds</a:t>
            </a:r>
          </a:p>
          <a:p xmlns:a="http://schemas.openxmlformats.org/drawingml/2006/main">
            <a:r>
              <a:t/>
            </a:r>
          </a:p>
          <a:p xmlns:a="http://schemas.openxmlformats.org/drawingml/2006/main">
            <a:r>
              <a:t>The modelling result follows the artefact. Random forest has cross-validated R squared of 0.584 on all records, which initially looks useful. On the post-launch subset it is minus 0.161. Linear regression and gradient boosting are also negative there. None of the tested models beats the mean benchmark for this transformed listing-delay target. Calendar and date variables were excluded as predictors, so I cannot claim the forest literally read a start-date feature. The safer explanation is that the broad-sample model exploited traits associated with backlog and CVE era. This is a useful negative result: checking the target changed the conclusion.</a:t>
            </a:r>
          </a:p>
          <a:p xmlns:a="http://schemas.openxmlformats.org/drawingml/2006/main">
            <a:r>
              <a:t/>
            </a:r>
          </a:p>
          <a:p xmlns:a="http://schemas.openxmlformats.org/drawingml/2006/main">
            <a:r>
              <a:t>Metric detail: the notebook models log1p(exploitation_lag_days + 291), not raw days. All-record CV R²: linear 0.4671, RF 0.5838, GB 0.5481. Post-launch: −0.1718, −0.1607, −0.1651. The sensitivity analysis changes sample composition and does not isolate every causal explanation.</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Q2 result</a:t>
            </a:r>
          </a:p>
          <a:p xmlns:a="http://schemas.openxmlformats.org/drawingml/2006/main">
            <a:r>
              <a:t>Target delivery: 70 seconds</a:t>
            </a:r>
          </a:p>
          <a:p xmlns:a="http://schemas.openxmlformats.org/drawingml/2006/main">
            <a:r>
              <a:t/>
            </a:r>
          </a:p>
          <a:p xmlns:a="http://schemas.openxmlformats.org/drawingml/2006/main">
            <a:r>
              <a:t>The ransomware classifier retains a modest signal. Random forest has test ROC-AUC 0.724. That describes ranking across thresholds; it is not 72.4 percent accuracy. The precision–recall summary is average precision, reported as PR-AUC in the project: 0.406 against a catalogue positive rate near 0.208. It is roughly twice that random baseline in average precision, not guaranteed double precision at one threshold. At the default 0.5 threshold, the saved forest catches only 12 of the 70 labelled positives: recall 0.171, with precision 0.462. Logistic regression trades more alerts for recall 0.600. Forest accuracy is 78.8 percent, slightly below the 79.4 percent achieved by predicting no ransomware link for everyone in this test set. I would use the ranking as a research lead, not an automatic operational decision.</a:t>
            </a:r>
          </a:p>
          <a:p xmlns:a="http://schemas.openxmlformats.org/drawingml/2006/main">
            <a:r>
              <a:t/>
            </a:r>
          </a:p>
          <a:p xmlns:a="http://schemas.openxmlformats.org/drawingml/2006/main">
            <a:r>
              <a:t>Examiner: "Why is recall low?" The saved forest uses the default 0.5 decision threshold; the imbalanced sample and fitted scores produce few positive calls. A lower threshold may improve recall but must be selected on validation data against an alert budget, not tuned on the final test set. Logistic regression also uses balanced class weights, so its higher recall is not a pure threshold-only comparison. "Is AUC 0.724 good?" Modest discrimination, limited by retrospective sampling, unknown labels and validation design. No confidence interval or prospective evaluation was established.</a:t>
            </a:r>
          </a:p>
          <a:p xmlns:a="http://schemas.openxmlformats.org/drawingml/2006/main">
            <a:r>
              <a:t/>
            </a:r>
          </a:p>
          <a:p xmlns:a="http://schemas.openxmlformats.org/drawingml/2006/main">
            <a:r>
              <a:t>Sources: results_summary.json classification; notebook average_precision_score and test confusion matrix; figures/kfig8_classifier.png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Feature importance</a:t>
            </a:r>
          </a:p>
          <a:p xmlns:a="http://schemas.openxmlformats.org/drawingml/2006/main">
            <a:r>
              <a:t>Target delivery: 45 seconds</a:t>
            </a:r>
          </a:p>
          <a:p xmlns:a="http://schemas.openxmlformats.org/drawingml/2006/main">
            <a:r>
              <a:t/>
            </a:r>
          </a:p>
          <a:p xmlns:a="http://schemas.openxmlformats.org/drawingml/2006/main">
            <a:r>
              <a:t>The top forest features are description length, reference count and CVSS score. That suggests metadata contains signal beyond severity alone. But this plot is impurity importance, which favours continuous and high-cardinality predictors. It cannot show that writing a longer description causes ransomware adoption. There is a more serious timing caveat: these features were collected in September 2026. A well-documented vulnerability may have accumulated references after exploitation or ransomware use. That possible look-ahead makes this a retrospective association. A prospective model needs features frozen at the prediction date.</a:t>
            </a:r>
          </a:p>
          <a:p xmlns:a="http://schemas.openxmlformats.org/drawingml/2006/main">
            <a:r>
              <a:t/>
            </a:r>
          </a:p>
          <a:p xmlns:a="http://schemas.openxmlformats.org/drawingml/2006/main">
            <a:r>
              <a:t>Saved importances: description word count 0.1646; reference count 0.1131; CVSS base score 0.0922. Next checks: fit preprocessing within folds; freeze metadata at prediction time; assess held-out permutation importance and a chronological split. Do not report these as completed checks.</a:t>
            </a:r>
          </a:p>
          <a:p xmlns:a="http://schemas.openxmlformats.org/drawingml/2006/main">
            <a:r>
              <a:t/>
            </a:r>
          </a:p>
          <a:p xmlns:a="http://schemas.openxmlformats.org/drawingml/2006/main">
            <a:r>
              <a:t>Sources: results_summary.json; KEV_Ransomware_Analysis.ipynb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Conclusions and limitations</a:t>
            </a:r>
          </a:p>
          <a:p xmlns:a="http://schemas.openxmlformats.org/drawingml/2006/main">
            <a:r>
              <a:t>Target delivery: 65 seconds</a:t>
            </a:r>
          </a:p>
          <a:p xmlns:a="http://schemas.openxmlformats.org/drawingml/2006/main">
            <a:r>
              <a:t/>
            </a:r>
          </a:p>
          <a:p xmlns:a="http://schemas.openxmlformats.org/drawingml/2006/main">
            <a:r>
              <a:t>The first conclusion is methodological: severity alone does not describe attacker behaviour, and a date-derived target can manufacture apparent predictability. The second is narrower: among KEV entries, the saved ransomware classifier has modest ranking value, and automatability has a small association with the label. This is consistent with considering exploitation and context, as SSVC and EPSS do. It does not validate either framework. EPSS predicts exploitation in the next 30 days, which is a different target from ransomware adoption. The limits are substantial: there are no non-exploited controls, unknown ransomware use is treated as negative, recent CVEs have shorter follow-up, and observation depends on detection and reporting. Metadata may be measured after the outcome, and learned preprocessing needs proper isolation. The next study should add non-exploited CVEs, use dated EPSS and timestamped features, and evaluate future periods with preprocessing fitted inside training folds.</a:t>
            </a:r>
          </a:p>
          <a:p xmlns:a="http://schemas.openxmlformats.org/drawingml/2006/main">
            <a:r>
              <a:t/>
            </a:r>
          </a:p>
          <a:p xmlns:a="http://schemas.openxmlformats.org/drawingml/2006/main">
            <a:r>
              <a:t>Examiner: "Can this predict all vulnerabilities?" No. The study conditions on already being in KEV. "Does Not Known mean no ransomware use?" No; absence of a known link is an uncertain label. "Why does the corrected lag still have structure?" Right-censoring and listing/detection processes remain.</a:t>
            </a:r>
          </a:p>
          <a:p xmlns:a="http://schemas.openxmlformats.org/drawingml/2006/main">
            <a:r>
              <a:t/>
            </a:r>
          </a:p>
          <a:p xmlns:a="http://schemas.openxmlformats.org/drawingml/2006/main">
            <a:r>
              <a:t>Sources: results_summary.json; notebook limitations; FIRST EPSS: https://www.first.org/epss/ ; CISA SSVC guide: https://www.cisa.gov/sites/default/files/publications/cisa-ssvc-guide%20508c.pdf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Questions and links</a:t>
            </a:r>
          </a:p>
          <a:p xmlns:a="http://schemas.openxmlformats.org/drawingml/2006/main">
            <a:r>
              <a:t>Target delivery: 25 seconds</a:t>
            </a:r>
          </a:p>
          <a:p xmlns:a="http://schemas.openxmlformats.org/drawingml/2006/main">
            <a:r>
              <a:t/>
            </a:r>
          </a:p>
          <a:p xmlns:a="http://schemas.openxmlformats.org/drawingml/2006/main">
            <a:r>
              <a:t>The repository contains the notebook, dataset, figures and saved results behind this presentation. The analysis uses seed 42 and pins the main analysis packages, including scikit-learn 1.8.0. The saved analysis is version-sensitive; pinning packages helps, but a full runtime definition still matters. The contribution is the calendar-artefact diagnosis and an honest assessment of a weak ransomware ranking model. I am happy to discuss the launch cutoff, the recall trade-off or the next validation design.</a:t>
            </a:r>
          </a:p>
          <a:p xmlns:a="http://schemas.openxmlformats.org/drawingml/2006/main">
            <a:r>
              <a:t/>
            </a:r>
          </a:p>
          <a:p xmlns:a="http://schemas.openxmlformats.org/drawingml/2006/main">
            <a:r>
              <a:t>Reproducibility boundary: six analysis libraries are pinned; Jupyter and the Python runtime are not fully specified. The requirements comment reports changed forest behaviour in scikit-learn 1.9. A seed alone does not guarantee bit-for-bit reproduction. Repository visibility is private unless changed by the owner.</a:t>
            </a:r>
          </a:p>
          <a:p xmlns:a="http://schemas.openxmlformats.org/drawingml/2006/main">
            <a:r>
              <a:t/>
            </a:r>
          </a:p>
          <a:p xmlns:a="http://schemas.openxmlformats.org/drawingml/2006/main">
            <a:r>
              <a:t>Sources: Project repository: https://github.com/Maverick-5/kev-ransomware-analysis; CISA: https://github.com/cisagov/kev-data ; CVE Program: https://github.com/CVEProject/cvelistV5 ; 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a06ed912f643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fdae1094b74b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18604557d14d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64fddbaece46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7bdb7c61d143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20be8c9b314f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06FBCF-C5D6-4D01-9606-204A814F8D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4404C7-4C2F-4ADA-A77A-3105CAC641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87F8926-447B-4E68-92AC-CE20070A9F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ABD170-8EBB-451E-9515-BE5165C55D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AC66EA9-0219-41BF-A996-C24CD844483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4B8143-DDE2-4EBD-ABCC-19C8533C47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4DEE10-B56D-4728-9C5F-06EE88A0F4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6BC1A8-4D18-4215-BA60-637F9E29FB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785B49-3645-4258-BBBF-D7ABE524C0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61F795-12A4-4FC7-9442-2832C83D90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bf4518d22e41bb" /><Relationship Type="http://schemas.openxmlformats.org/officeDocument/2006/relationships/slideLayout" Target="/ppt/slideLayouts/slideLayout1.xml" Id="R87e1a51a3ae449f8" /><Relationship Type="http://schemas.openxmlformats.org/officeDocument/2006/relationships/slideLayout" Target="/ppt/slideLayouts/slideLayout2.xml" Id="Rbd0ce03583b84371" /><Relationship Type="http://schemas.openxmlformats.org/officeDocument/2006/relationships/slideLayout" Target="/ppt/slideLayouts/slideLayout3.xml" Id="R379ce4ec328a4b92" /><Relationship Type="http://schemas.openxmlformats.org/officeDocument/2006/relationships/slideLayout" Target="/ppt/slideLayouts/slideLayout4.xml" Id="Rac98d2c962284b00" /><Relationship Type="http://schemas.openxmlformats.org/officeDocument/2006/relationships/slideLayout" Target="/ppt/slideLayouts/slideLayout5.xml" Id="Rd48a66a594304790" /><Relationship Type="http://schemas.openxmlformats.org/officeDocument/2006/relationships/slideLayout" Target="/ppt/slideLayouts/slideLayout6.xml" Id="Ra2e7ad2f258147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e1a51a3ae449f8"/>
    <p:sldLayoutId xmlns:r="http://schemas.openxmlformats.org/officeDocument/2006/relationships" id="2147483650" r:id="Rbd0ce03583b84371"/>
    <p:sldLayoutId xmlns:r="http://schemas.openxmlformats.org/officeDocument/2006/relationships" id="2147483651" r:id="R379ce4ec328a4b92"/>
    <p:sldLayoutId xmlns:r="http://schemas.openxmlformats.org/officeDocument/2006/relationships" id="2147483652" r:id="Rac98d2c962284b00"/>
    <p:sldLayoutId xmlns:r="http://schemas.openxmlformats.org/officeDocument/2006/relationships" id="2147483653" r:id="Rd48a66a594304790"/>
    <p:sldLayoutId xmlns:r="http://schemas.openxmlformats.org/officeDocument/2006/relationships" id="2147483654" r:id="Ra2e7ad2f258147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4ade83e893469a" /><Relationship Type="http://schemas.openxmlformats.org/officeDocument/2006/relationships/hyperlink" Target="https://github.com/Maverick-5/kev-ransomware-analysis" TargetMode="External" Id="Re686595cd46b408e" /><Relationship Type="http://schemas.openxmlformats.org/officeDocument/2006/relationships/notesSlide" Target="/ppt/notesSlides/notesSlide1.xml" Id="R82d2b62a755249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b7619bc5f84197" /><Relationship Type="http://schemas.openxmlformats.org/officeDocument/2006/relationships/notesSlide" Target="/ppt/notesSlides/notesSlide2.xml" Id="R0593d77185d340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43e41e09ec4d85" /><Relationship Type="http://schemas.openxmlformats.org/officeDocument/2006/relationships/notesSlide" Target="/ppt/notesSlides/notesSlide3.xml" Id="R46c7901e0eba4a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d7cc4e7dcc4ca1" /><Relationship Type="http://schemas.openxmlformats.org/officeDocument/2006/relationships/notesSlide" Target="/ppt/notesSlides/notesSlide4.xml" Id="Rf5c22a5780a447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baeeb7918346be" /><Relationship Type="http://schemas.openxmlformats.org/officeDocument/2006/relationships/notesSlide" Target="/ppt/notesSlides/notesSlide5.xml" Id="Rcf4056ed966a4d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83d8a5152c4d94" /><Relationship Type="http://schemas.openxmlformats.org/officeDocument/2006/relationships/image" Target="/ppt/media/image.png" Id="Rf6cc208ab910429f" /><Relationship Type="http://schemas.openxmlformats.org/officeDocument/2006/relationships/image" Target="/ppt/media/image2.png" Id="Rfb7bc3acb1ec4f8b" /><Relationship Type="http://schemas.openxmlformats.org/officeDocument/2006/relationships/notesSlide" Target="/ppt/notesSlides/notesSlide6.xml" Id="R7fc132aa36ef49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f4c433b01d40cd" /><Relationship Type="http://schemas.openxmlformats.org/officeDocument/2006/relationships/image" Target="/ppt/media/image3.png" Id="Ra1c0fe38bfa241ba" /><Relationship Type="http://schemas.openxmlformats.org/officeDocument/2006/relationships/notesSlide" Target="/ppt/notesSlides/notesSlide7.xml" Id="R09e0cceca83a44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eb0aa466ae428c" /><Relationship Type="http://schemas.openxmlformats.org/officeDocument/2006/relationships/image" Target="/ppt/media/image4.png" Id="R8c3332c29b1a4a21" /><Relationship Type="http://schemas.openxmlformats.org/officeDocument/2006/relationships/notesSlide" Target="/ppt/notesSlides/notesSlide8.xml" Id="Raecca48e018344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6811a35892f4679" /><Relationship Type="http://schemas.openxmlformats.org/officeDocument/2006/relationships/image" Target="/ppt/media/image5.png" Id="R2dda71e5a3204de8" /><Relationship Type="http://schemas.openxmlformats.org/officeDocument/2006/relationships/notesSlide" Target="/ppt/notesSlides/notesSlide9.xml" Id="Rf46ae4bb5d034a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7b37a001514648" /><Relationship Type="http://schemas.openxmlformats.org/officeDocument/2006/relationships/image" Target="/ppt/media/image6.png" Id="R717629f6f45d490f" /><Relationship Type="http://schemas.openxmlformats.org/officeDocument/2006/relationships/notesSlide" Target="/ppt/notesSlides/notesSlide10.xml" Id="R88e24228d30643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b8165b73474dcf" /><Relationship Type="http://schemas.openxmlformats.org/officeDocument/2006/relationships/image" Target="/ppt/media/image7.png" Id="Rbc9eb63f3c2c4c36" /><Relationship Type="http://schemas.openxmlformats.org/officeDocument/2006/relationships/notesSlide" Target="/ppt/notesSlides/notesSlide11.xml" Id="R5cc15a2f5b8143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1008a8957d4e1e" /><Relationship Type="http://schemas.openxmlformats.org/officeDocument/2006/relationships/notesSlide" Target="/ppt/notesSlides/notesSlide12.xml" Id="R1eafb0a7ed2a49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4ca7ffdf3ce43d7" /><Relationship Type="http://schemas.openxmlformats.org/officeDocument/2006/relationships/hyperlink" Target="https://github.com/Maverick-5/kev-ransomware-analysis" TargetMode="External" Id="Rf9766e59a5664b4a" /><Relationship Type="http://schemas.openxmlformats.org/officeDocument/2006/relationships/hyperlink" Target="https://github.com/cisagov/kev-data" TargetMode="External" Id="R1cb65f2bf8694500" /><Relationship Type="http://schemas.openxmlformats.org/officeDocument/2006/relationships/hyperlink" Target="https://github.com/CVEProject/cvelistV5" TargetMode="External" Id="Rd6c07eb4a0954672" /><Relationship Type="http://schemas.openxmlformats.org/officeDocument/2006/relationships/notesSlide" Target="/ppt/notesSlides/notesSlide13.xml" Id="R5530f72b2a1f48f3" /></Relationships>
</file>

<file path=ppt/slides/slide1.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E78B2CFA-C8BD-482E-8091-806BEE231260}"/>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53B97ACC-FF22-4EC6-BC55-7C272482E2AA}"/>
              </a:ext>
            </a:extLst>
          </p:cNvPr>
          <p:cNvSpPr>
            <a:spLocks xmlns:a="http://schemas.openxmlformats.org/drawingml/2006/main" noGrp="1"/>
          </p:cNvSpPr>
          <p:nvPr/>
        </p:nvSpPr>
        <p:spPr>
          <a:xfrm xmlns:a="http://schemas.openxmlformats.org/drawingml/2006/main">
            <a:off x="619125" y="638175"/>
            <a:ext cx="85725" cy="85725"/>
          </a:xfrm>
          <a:prstGeom xmlns:a="http://schemas.openxmlformats.org/drawingml/2006/main" prst="ellipse">
            <a:avLst/>
          </a:prstGeom>
          <a:solidFill xmlns:a="http://schemas.openxmlformats.org/drawingml/2006/main">
            <a:srgbClr val="F37338"/>
          </a:solidFill>
          <a:ln xmlns:a="http://schemas.openxmlformats.org/drawingml/2006/main" w="0">
            <a:noFill/>
          </a:ln>
        </p:spPr>
      </p:sp>
      <p:sp>
        <p:nvSpPr>
          <p:cNvPr id="3" name="text-3">
            <a:extLst xmlns:a="http://schemas.openxmlformats.org/drawingml/2006/main">
              <a:ext uri="{FF2B5EF4-FFF2-40B4-BE49-F238E27FC236}">
                <a16:creationId xmlns:a16="http://schemas.microsoft.com/office/drawing/2014/main" id="{0F89166A-338E-4376-9C80-2821CE5A4CEA}"/>
              </a:ext>
            </a:extLst>
          </p:cNvPr>
          <p:cNvSpPr>
            <a:spLocks xmlns:a="http://schemas.openxmlformats.org/drawingml/2006/main" noGrp="1"/>
          </p:cNvSpPr>
          <p:nvPr/>
        </p:nvSpPr>
        <p:spPr>
          <a:xfrm xmlns:a="http://schemas.openxmlformats.org/drawingml/2006/main">
            <a:off x="809625" y="57150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96969"/>
                </a:solidFill>
                <a:latin typeface="Arial"/>
                <a:ea typeface="Arial"/>
                <a:cs typeface="Arial"/>
              </a:defRPr>
            </a:defPPr>
          </a:lstStyle>
          <a:p xmlns:a="http://schemas.openxmlformats.org/drawingml/2006/main">
            <a:pPr algn="l">
              <a:defRPr sz="1275" b="1">
                <a:solidFill>
                  <a:srgbClr val="696969"/>
                </a:solidFill>
                <a:latin typeface="Arial"/>
                <a:ea typeface="Arial"/>
                <a:cs typeface="Arial"/>
              </a:defRPr>
            </a:pPr>
            <a:r>
              <a:rPr sz="1275" b="1">
                <a:solidFill>
                  <a:srgbClr val="696969"/>
                </a:solidFill>
                <a:latin typeface="Arial"/>
                <a:ea typeface="Arial"/>
                <a:cs typeface="Arial"/>
              </a:rPr>
              <a:t>KEV + CVE ANALYSIS</a:t>
            </a:r>
          </a:p>
        </p:txBody>
      </p:sp>
      <p:sp>
        <p:nvSpPr>
          <p:cNvPr id="4" name="text-4">
            <a:extLst xmlns:a="http://schemas.openxmlformats.org/drawingml/2006/main">
              <a:ext uri="{FF2B5EF4-FFF2-40B4-BE49-F238E27FC236}">
                <a16:creationId xmlns:a16="http://schemas.microsoft.com/office/drawing/2014/main" id="{D6CE1123-7D3A-48CC-8D1B-94231FDFE816}"/>
              </a:ext>
            </a:extLst>
          </p:cNvPr>
          <p:cNvSpPr>
            <a:spLocks xmlns:a="http://schemas.openxmlformats.org/drawingml/2006/main" noGrp="1"/>
          </p:cNvSpPr>
          <p:nvPr/>
        </p:nvSpPr>
        <p:spPr>
          <a:xfrm xmlns:a="http://schemas.openxmlformats.org/drawingml/2006/main">
            <a:off x="609600" y="1438275"/>
            <a:ext cx="1076325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141413"/>
                </a:solidFill>
                <a:latin typeface="Arial"/>
                <a:ea typeface="Arial"/>
                <a:cs typeface="Arial"/>
              </a:defRPr>
            </a:defPPr>
          </a:lstStyle>
          <a:p xmlns:a="http://schemas.openxmlformats.org/drawingml/2006/main">
            <a:pPr algn="l">
              <a:defRPr sz="4650" b="0">
                <a:solidFill>
                  <a:srgbClr val="141413"/>
                </a:solidFill>
                <a:latin typeface="Arial"/>
                <a:ea typeface="Arial"/>
                <a:cs typeface="Arial"/>
              </a:defRPr>
            </a:pPr>
            <a:r>
              <a:rPr sz="4650" b="0">
                <a:solidFill>
                  <a:srgbClr val="141413"/>
                </a:solidFill>
                <a:latin typeface="Arial"/>
                <a:ea typeface="Arial"/>
                <a:cs typeface="Arial"/>
              </a:rPr>
              <a:t>Which Exploited</a:t>
            </a:r>
          </a:p>
          <a:p xmlns:a="http://schemas.openxmlformats.org/drawingml/2006/main">
            <a:pPr algn="l">
              <a:defRPr sz="4650" b="0">
                <a:solidFill>
                  <a:srgbClr val="141413"/>
                </a:solidFill>
                <a:latin typeface="Arial"/>
                <a:ea typeface="Arial"/>
                <a:cs typeface="Arial"/>
              </a:defRPr>
            </a:pPr>
            <a:r>
              <a:rPr sz="4650" b="0">
                <a:solidFill>
                  <a:srgbClr val="141413"/>
                </a:solidFill>
                <a:latin typeface="Arial"/>
                <a:ea typeface="Arial"/>
                <a:cs typeface="Arial"/>
              </a:rPr>
              <a:t>Vulnerabilities Become</a:t>
            </a:r>
          </a:p>
          <a:p xmlns:a="http://schemas.openxmlformats.org/drawingml/2006/main">
            <a:pPr algn="l">
              <a:defRPr sz="4650" b="0">
                <a:solidFill>
                  <a:srgbClr val="141413"/>
                </a:solidFill>
                <a:latin typeface="Arial"/>
                <a:ea typeface="Arial"/>
                <a:cs typeface="Arial"/>
              </a:defRPr>
            </a:pPr>
            <a:r>
              <a:rPr sz="4650" b="0">
                <a:solidFill>
                  <a:srgbClr val="141413"/>
                </a:solidFill>
                <a:latin typeface="Arial"/>
                <a:ea typeface="Arial"/>
                <a:cs typeface="Arial"/>
              </a:rPr>
              <a:t>Ransomware Targets?</a:t>
            </a:r>
          </a:p>
        </p:txBody>
      </p:sp>
      <p:sp>
        <p:nvSpPr>
          <p:cNvPr id="5" name="text-5">
            <a:extLst xmlns:a="http://schemas.openxmlformats.org/drawingml/2006/main">
              <a:ext uri="{FF2B5EF4-FFF2-40B4-BE49-F238E27FC236}">
                <a16:creationId xmlns:a16="http://schemas.microsoft.com/office/drawing/2014/main" id="{155C4E63-2D87-4E90-ABC6-0EBB4A991B9F}"/>
              </a:ext>
            </a:extLst>
          </p:cNvPr>
          <p:cNvSpPr>
            <a:spLocks xmlns:a="http://schemas.openxmlformats.org/drawingml/2006/main" noGrp="1"/>
          </p:cNvSpPr>
          <p:nvPr/>
        </p:nvSpPr>
        <p:spPr>
          <a:xfrm xmlns:a="http://schemas.openxmlformats.org/drawingml/2006/main">
            <a:off x="609600" y="40100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96969"/>
                </a:solidFill>
                <a:latin typeface="Arial"/>
                <a:ea typeface="Arial"/>
                <a:cs typeface="Arial"/>
              </a:defRPr>
            </a:defPPr>
          </a:lstStyle>
          <a:p xmlns:a="http://schemas.openxmlformats.org/drawingml/2006/main">
            <a:pPr algn="l">
              <a:defRPr sz="2175" b="0">
                <a:solidFill>
                  <a:srgbClr val="696969"/>
                </a:solidFill>
                <a:latin typeface="Arial"/>
                <a:ea typeface="Arial"/>
                <a:cs typeface="Arial"/>
              </a:defRPr>
            </a:pPr>
            <a:r>
              <a:rPr sz="2175" b="0">
                <a:solidFill>
                  <a:srgbClr val="696969"/>
                </a:solidFill>
                <a:latin typeface="Arial"/>
                <a:ea typeface="Arial"/>
                <a:cs typeface="Arial"/>
              </a:rPr>
              <a:t>ML analysis of CISA KEV + MITRE CVE</a:t>
            </a:r>
          </a:p>
        </p:txBody>
      </p:sp>
      <p:sp>
        <p:nvSpPr>
          <p:cNvPr id="6" name="shape-6">
            <a:extLst xmlns:a="http://schemas.openxmlformats.org/drawingml/2006/main">
              <a:ext uri="{FF2B5EF4-FFF2-40B4-BE49-F238E27FC236}">
                <a16:creationId xmlns:a16="http://schemas.microsoft.com/office/drawing/2014/main" id="{D57E1CF5-90C8-4598-92B4-FCEAE7D1AD24}"/>
              </a:ext>
            </a:extLst>
          </p:cNvPr>
          <p:cNvSpPr>
            <a:spLocks xmlns:a="http://schemas.openxmlformats.org/drawingml/2006/main" noGrp="1"/>
          </p:cNvSpPr>
          <p:nvPr/>
        </p:nvSpPr>
        <p:spPr>
          <a:xfrm xmlns:a="http://schemas.openxmlformats.org/drawingml/2006/main">
            <a:off x="609600" y="5010150"/>
            <a:ext cx="3143250" cy="590550"/>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7" name="text-7">
            <a:extLst xmlns:a="http://schemas.openxmlformats.org/drawingml/2006/main">
              <a:ext uri="{FF2B5EF4-FFF2-40B4-BE49-F238E27FC236}">
                <a16:creationId xmlns:a16="http://schemas.microsoft.com/office/drawing/2014/main" id="{06753864-DA85-47AA-B902-F283B2F747C6}"/>
              </a:ext>
            </a:extLst>
          </p:cNvPr>
          <p:cNvSpPr>
            <a:spLocks xmlns:a="http://schemas.openxmlformats.org/drawingml/2006/main" noGrp="1"/>
          </p:cNvSpPr>
          <p:nvPr/>
        </p:nvSpPr>
        <p:spPr>
          <a:xfrm xmlns:a="http://schemas.openxmlformats.org/drawingml/2006/main">
            <a:off x="800100" y="5171789"/>
            <a:ext cx="276225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F3F0EE"/>
                </a:solidFill>
                <a:latin typeface="Arial"/>
                <a:ea typeface="Arial"/>
                <a:cs typeface="Arial"/>
              </a:defRPr>
            </a:defPPr>
          </a:lstStyle>
          <a:p xmlns:a="http://schemas.openxmlformats.org/drawingml/2006/main">
            <a:pPr algn="ctr">
              <a:defRPr sz="1725" b="0">
                <a:solidFill>
                  <a:srgbClr val="F3F0EE"/>
                </a:solidFill>
                <a:latin typeface="Arial"/>
                <a:ea typeface="Arial"/>
                <a:cs typeface="Arial"/>
              </a:defRPr>
            </a:pPr>
            <a:r>
              <a:rPr sz="1725" b="0">
                <a:solidFill>
                  <a:srgbClr val="F3F0EE"/>
                </a:solidFill>
                <a:latin typeface="Arial"/>
                <a:ea typeface="Arial"/>
                <a:cs typeface="Arial"/>
              </a:rPr>
              <a:t>Rakitha Balasuiya</a:t>
            </a:r>
          </a:p>
        </p:txBody>
      </p:sp>
      <p:sp>
        <p:nvSpPr>
          <p:cNvPr id="8" name="text-8">
            <a:extLst xmlns:a="http://schemas.openxmlformats.org/drawingml/2006/main">
              <a:ext uri="{FF2B5EF4-FFF2-40B4-BE49-F238E27FC236}">
                <a16:creationId xmlns:a16="http://schemas.microsoft.com/office/drawing/2014/main" id="{FAA6BBB4-3894-4EF2-A028-D13C422F7932}"/>
              </a:ext>
            </a:extLst>
          </p:cNvPr>
          <p:cNvSpPr>
            <a:spLocks xmlns:a="http://schemas.openxmlformats.org/drawingml/2006/main" noGrp="1"/>
          </p:cNvSpPr>
          <p:nvPr/>
        </p:nvSpPr>
        <p:spPr>
          <a:xfrm xmlns:a="http://schemas.openxmlformats.org/drawingml/2006/main">
            <a:off x="4191000" y="5038725"/>
            <a:ext cx="714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1413"/>
                </a:solidFill>
                <a:latin typeface="Arial"/>
                <a:ea typeface="Arial"/>
                <a:cs typeface="Arial"/>
              </a:defRPr>
            </a:defPPr>
          </a:lstStyle>
          <a:p xmlns:a="http://schemas.openxmlformats.org/drawingml/2006/main">
            <a:pPr algn="l">
              <a:defRPr sz="1650" b="0">
                <a:solidFill>
                  <a:srgbClr val="141413"/>
                </a:solidFill>
                <a:latin typeface="Arial"/>
                <a:ea typeface="Arial"/>
                <a:cs typeface="Arial"/>
              </a:defRPr>
            </a:pPr>
            <a:r>
              <a:rPr sz="1650" b="0">
                <a:solidFill>
                  <a:srgbClr val="141413"/>
                </a:solidFill>
                <a:latin typeface="Arial"/>
                <a:ea typeface="Arial"/>
                <a:cs typeface="Arial"/>
              </a:rPr>
              <a:t>Index no.: [Index number]</a:t>
            </a:r>
          </a:p>
        </p:txBody>
      </p:sp>
      <p:sp>
        <p:nvSpPr>
          <p:cNvPr id="9" name="text-9">
            <a:extLst xmlns:a="http://schemas.openxmlformats.org/drawingml/2006/main">
              <a:ext uri="{FF2B5EF4-FFF2-40B4-BE49-F238E27FC236}">
                <a16:creationId xmlns:a16="http://schemas.microsoft.com/office/drawing/2014/main" id="{F5A0B6EF-CD82-4D94-AAD0-BCB193101CC0}"/>
              </a:ext>
            </a:extLst>
          </p:cNvPr>
          <p:cNvSpPr>
            <a:spLocks xmlns:a="http://schemas.openxmlformats.org/drawingml/2006/main" noGrp="1"/>
          </p:cNvSpPr>
          <p:nvPr/>
        </p:nvSpPr>
        <p:spPr>
          <a:xfrm xmlns:a="http://schemas.openxmlformats.org/drawingml/2006/main">
            <a:off x="4191000" y="5410200"/>
            <a:ext cx="714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1413"/>
                </a:solidFill>
                <a:latin typeface="Arial"/>
                <a:ea typeface="Arial"/>
                <a:cs typeface="Arial"/>
              </a:defRPr>
            </a:defPPr>
          </a:lstStyle>
          <a:p xmlns:a="http://schemas.openxmlformats.org/drawingml/2006/main">
            <a:pPr algn="l">
              <a:defRPr sz="1650" b="0">
                <a:solidFill>
                  <a:srgbClr val="141413"/>
                </a:solidFill>
                <a:latin typeface="Arial"/>
                <a:ea typeface="Arial"/>
                <a:cs typeface="Arial"/>
              </a:defRPr>
            </a:pPr>
            <a:r>
              <a:rPr sz="1650" b="0">
                <a:solidFill>
                  <a:srgbClr val="141413"/>
                </a:solidFill>
                <a:latin typeface="Arial"/>
                <a:ea typeface="Arial"/>
                <a:cs typeface="Arial"/>
              </a:rPr>
              <a:t>Module: [Module]    Date: [Presentation date]</a:t>
            </a:r>
          </a:p>
        </p:txBody>
      </p:sp>
      <p:sp>
        <p:nvSpPr>
          <p:cNvPr id="10" name="text-10">
            <a:extLst xmlns:a="http://schemas.openxmlformats.org/drawingml/2006/main">
              <a:ext uri="{FF2B5EF4-FFF2-40B4-BE49-F238E27FC236}">
                <a16:creationId xmlns:a16="http://schemas.microsoft.com/office/drawing/2014/main" id="{8B4124CD-4853-4E1D-B5BD-D078154E2093}"/>
              </a:ext>
            </a:extLst>
          </p:cNvPr>
          <p:cNvSpPr>
            <a:spLocks xmlns:a="http://schemas.openxmlformats.org/drawingml/2006/main" noGrp="1"/>
          </p:cNvSpPr>
          <p:nvPr/>
        </p:nvSpPr>
        <p:spPr>
          <a:xfrm xmlns:a="http://schemas.openxmlformats.org/drawingml/2006/main">
            <a:off x="609600" y="60674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3860BE"/>
                </a:solidFill>
                <a:latin typeface="Arial"/>
                <a:ea typeface="Arial"/>
                <a:cs typeface="Arial"/>
              </a:defRPr>
            </a:defPPr>
          </a:lstStyle>
          <a:p xmlns:a="http://schemas.openxmlformats.org/drawingml/2006/main">
            <a:pPr algn="l">
              <a:defRPr sz="1425" b="0">
                <a:solidFill>
                  <a:srgbClr val="3860BE"/>
                </a:solidFill>
                <a:latin typeface="Arial"/>
                <a:ea typeface="Arial"/>
                <a:cs typeface="Arial"/>
              </a:defRPr>
            </a:pPr>
            <a:r>
              <a:rPr sz="1425" b="0">
                <a:solidFill>
                  <a:srgbClr val="3860BE"/>
                </a:solidFill>
                <a:latin typeface="Arial"/>
                <a:ea typeface="Arial"/>
                <a:cs typeface="Arial"/>
                <a:hlinkClick xmlns:r="http://schemas.openxmlformats.org/officeDocument/2006/relationships" r:id="Re686595cd46b408e"/>
              </a:rPr>
              <a:t>https://github.com/Maverick-5/kev-ransomware-analysis</a:t>
            </a:r>
          </a:p>
        </p:txBody>
      </p:sp>
    </p:spTree>
    <p:extLst>
      <p:ext uri="{BB962C8B-B14F-4D97-AF65-F5344CB8AC3E}">
        <p14:creationId xmlns:p14="http://schemas.microsoft.com/office/powerpoint/2010/main" val="1516701"/>
      </p:ext>
    </p:extLst>
  </p:cSld>
</p:sld>
</file>

<file path=ppt/slides/slide2.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3" name="text-11">
            <a:extLst xmlns:a="http://schemas.openxmlformats.org/drawingml/2006/main">
              <a:ext uri="{FF2B5EF4-FFF2-40B4-BE49-F238E27FC236}">
                <a16:creationId xmlns:a16="http://schemas.microsoft.com/office/drawing/2014/main" id="{2613629C-FCEE-42F1-8503-D0CD7C7AB3AC}"/>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Why it matters</a:t>
            </a:r>
          </a:p>
        </p:txBody>
      </p:sp>
      <p:sp>
        <p:nvSpPr>
          <p:cNvPr id="2" name="text-12">
            <a:extLst xmlns:a="http://schemas.openxmlformats.org/drawingml/2006/main">
              <a:ext uri="{FF2B5EF4-FFF2-40B4-BE49-F238E27FC236}">
                <a16:creationId xmlns:a16="http://schemas.microsoft.com/office/drawing/2014/main" id="{F4F1BFE7-1645-4C1C-84A4-282176CE44BB}"/>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02</a:t>
            </a:r>
          </a:p>
        </p:txBody>
      </p:sp>
      <p:sp>
        <p:nvSpPr>
          <p:cNvPr id="3" name="shape-13">
            <a:extLst xmlns:a="http://schemas.openxmlformats.org/drawingml/2006/main">
              <a:ext uri="{FF2B5EF4-FFF2-40B4-BE49-F238E27FC236}">
                <a16:creationId xmlns:a16="http://schemas.microsoft.com/office/drawing/2014/main" id="{0C0DC678-6538-4316-9172-23D071A1E0E1}"/>
              </a:ext>
            </a:extLst>
          </p:cNvPr>
          <p:cNvSpPr>
            <a:spLocks xmlns:a="http://schemas.openxmlformats.org/drawingml/2006/main" noGrp="1"/>
          </p:cNvSpPr>
          <p:nvPr/>
        </p:nvSpPr>
        <p:spPr>
          <a:xfrm xmlns:a="http://schemas.openxmlformats.org/drawingml/2006/main">
            <a:off x="609600" y="1647825"/>
            <a:ext cx="10972800" cy="3733800"/>
          </a:xfrm>
          <a:prstGeom xmlns:a="http://schemas.openxmlformats.org/drawingml/2006/main" prst="roundRect">
            <a:avLst>
              <a:gd name="adj" fmla="val 10204"/>
            </a:avLst>
          </a:prstGeom>
          <a:solidFill xmlns:a="http://schemas.openxmlformats.org/drawingml/2006/main">
            <a:srgbClr val="FCFBFA"/>
          </a:solidFill>
          <a:ln xmlns:a="http://schemas.openxmlformats.org/drawingml/2006/main" w="0">
            <a:noFill/>
          </a:ln>
        </p:spPr>
      </p:sp>
      <p:sp>
        <p:nvSpPr>
          <p:cNvPr id="4" name="shape-14">
            <a:extLst xmlns:a="http://schemas.openxmlformats.org/drawingml/2006/main">
              <a:ext uri="{FF2B5EF4-FFF2-40B4-BE49-F238E27FC236}">
                <a16:creationId xmlns:a16="http://schemas.microsoft.com/office/drawing/2014/main" id="{BADE1B28-6773-4640-8C90-905E835138FD}"/>
              </a:ext>
            </a:extLst>
          </p:cNvPr>
          <p:cNvSpPr>
            <a:spLocks xmlns:a="http://schemas.openxmlformats.org/drawingml/2006/main" noGrp="1"/>
          </p:cNvSpPr>
          <p:nvPr/>
        </p:nvSpPr>
        <p:spPr>
          <a:xfrm xmlns:a="http://schemas.openxmlformats.org/drawingml/2006/main">
            <a:off x="990600" y="2066925"/>
            <a:ext cx="1524000" cy="533400"/>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5" name="text-15">
            <a:extLst xmlns:a="http://schemas.openxmlformats.org/drawingml/2006/main">
              <a:ext uri="{FF2B5EF4-FFF2-40B4-BE49-F238E27FC236}">
                <a16:creationId xmlns:a16="http://schemas.microsoft.com/office/drawing/2014/main" id="{12CDC82E-34DC-45F6-99BE-76747AA6F7E6}"/>
              </a:ext>
            </a:extLst>
          </p:cNvPr>
          <p:cNvSpPr>
            <a:spLocks xmlns:a="http://schemas.openxmlformats.org/drawingml/2006/main" noGrp="1"/>
          </p:cNvSpPr>
          <p:nvPr/>
        </p:nvSpPr>
        <p:spPr>
          <a:xfrm xmlns:a="http://schemas.openxmlformats.org/drawingml/2006/main">
            <a:off x="1181100" y="2194179"/>
            <a:ext cx="1143000"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0">
                <a:solidFill>
                  <a:srgbClr val="F3F0EE"/>
                </a:solidFill>
                <a:latin typeface="Arial"/>
                <a:ea typeface="Arial"/>
                <a:cs typeface="Arial"/>
              </a:defRPr>
            </a:defPPr>
          </a:lstStyle>
          <a:p xmlns:a="http://schemas.openxmlformats.org/drawingml/2006/main">
            <a:pPr algn="ctr">
              <a:defRPr sz="1800" b="0">
                <a:solidFill>
                  <a:srgbClr val="F3F0EE"/>
                </a:solidFill>
                <a:latin typeface="Arial"/>
                <a:ea typeface="Arial"/>
                <a:cs typeface="Arial"/>
              </a:defRPr>
            </a:pPr>
            <a:r>
              <a:rPr sz="1800" b="0">
                <a:solidFill>
                  <a:srgbClr val="F3F0EE"/>
                </a:solidFill>
                <a:latin typeface="Arial"/>
                <a:ea typeface="Arial"/>
                <a:cs typeface="Arial"/>
              </a:rPr>
              <a:t>CVSS</a:t>
            </a:r>
          </a:p>
        </p:txBody>
      </p:sp>
      <p:sp>
        <p:nvSpPr>
          <p:cNvPr id="6" name="text-16">
            <a:extLst xmlns:a="http://schemas.openxmlformats.org/drawingml/2006/main">
              <a:ext uri="{FF2B5EF4-FFF2-40B4-BE49-F238E27FC236}">
                <a16:creationId xmlns:a16="http://schemas.microsoft.com/office/drawing/2014/main" id="{1EC424EF-BE64-4E3B-9DE6-5AA377B76A58}"/>
              </a:ext>
            </a:extLst>
          </p:cNvPr>
          <p:cNvSpPr>
            <a:spLocks xmlns:a="http://schemas.openxmlformats.org/drawingml/2006/main" noGrp="1"/>
          </p:cNvSpPr>
          <p:nvPr/>
        </p:nvSpPr>
        <p:spPr>
          <a:xfrm xmlns:a="http://schemas.openxmlformats.org/drawingml/2006/main">
            <a:off x="2914650" y="2095500"/>
            <a:ext cx="8058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41413"/>
                </a:solidFill>
                <a:latin typeface="Arial"/>
                <a:ea typeface="Arial"/>
                <a:cs typeface="Arial"/>
              </a:defRPr>
            </a:defPPr>
          </a:lstStyle>
          <a:p xmlns:a="http://schemas.openxmlformats.org/drawingml/2006/main">
            <a:pPr algn="l">
              <a:defRPr sz="2850" b="0">
                <a:solidFill>
                  <a:srgbClr val="141413"/>
                </a:solidFill>
                <a:latin typeface="Arial"/>
                <a:ea typeface="Arial"/>
                <a:cs typeface="Arial"/>
              </a:defRPr>
            </a:pPr>
            <a:r>
              <a:rPr sz="2850" b="0">
                <a:solidFill>
                  <a:srgbClr val="141413"/>
                </a:solidFill>
                <a:latin typeface="Arial"/>
                <a:ea typeface="Arial"/>
                <a:cs typeface="Arial"/>
              </a:rPr>
              <a:t>How bad could the flaw be?</a:t>
            </a:r>
          </a:p>
        </p:txBody>
      </p:sp>
      <p:sp>
        <p:nvSpPr>
          <p:cNvPr id="7" name="shape-17">
            <a:extLst xmlns:a="http://schemas.openxmlformats.org/drawingml/2006/main">
              <a:ext uri="{FF2B5EF4-FFF2-40B4-BE49-F238E27FC236}">
                <a16:creationId xmlns:a16="http://schemas.microsoft.com/office/drawing/2014/main" id="{85AA485F-4C2F-4F55-A047-619DAD6C7546}"/>
              </a:ext>
            </a:extLst>
          </p:cNvPr>
          <p:cNvSpPr>
            <a:spLocks xmlns:a="http://schemas.openxmlformats.org/drawingml/2006/main" noGrp="1"/>
          </p:cNvSpPr>
          <p:nvPr/>
        </p:nvSpPr>
        <p:spPr>
          <a:xfrm xmlns:a="http://schemas.openxmlformats.org/drawingml/2006/main">
            <a:off x="990600" y="2952750"/>
            <a:ext cx="10210800" cy="9525"/>
          </a:xfrm>
          <a:prstGeom xmlns:a="http://schemas.openxmlformats.org/drawingml/2006/main" prst="rect">
            <a:avLst/>
          </a:prstGeom>
          <a:solidFill xmlns:a="http://schemas.openxmlformats.org/drawingml/2006/main">
            <a:srgbClr val="D1CDC7"/>
          </a:solidFill>
          <a:ln xmlns:a="http://schemas.openxmlformats.org/drawingml/2006/main" w="0">
            <a:noFill/>
          </a:ln>
        </p:spPr>
      </p:sp>
      <p:sp>
        <p:nvSpPr>
          <p:cNvPr id="8" name="shape-18">
            <a:extLst xmlns:a="http://schemas.openxmlformats.org/drawingml/2006/main">
              <a:ext uri="{FF2B5EF4-FFF2-40B4-BE49-F238E27FC236}">
                <a16:creationId xmlns:a16="http://schemas.microsoft.com/office/drawing/2014/main" id="{2C9AD285-D408-4B47-B436-F06BD116FA68}"/>
              </a:ext>
            </a:extLst>
          </p:cNvPr>
          <p:cNvSpPr>
            <a:spLocks xmlns:a="http://schemas.openxmlformats.org/drawingml/2006/main" noGrp="1"/>
          </p:cNvSpPr>
          <p:nvPr/>
        </p:nvSpPr>
        <p:spPr>
          <a:xfrm xmlns:a="http://schemas.openxmlformats.org/drawingml/2006/main">
            <a:off x="990600" y="3362325"/>
            <a:ext cx="1524000" cy="5334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9" name="text-19">
            <a:extLst xmlns:a="http://schemas.openxmlformats.org/drawingml/2006/main">
              <a:ext uri="{FF2B5EF4-FFF2-40B4-BE49-F238E27FC236}">
                <a16:creationId xmlns:a16="http://schemas.microsoft.com/office/drawing/2014/main" id="{048F838F-3FFA-432C-BA13-9D35994A0997}"/>
              </a:ext>
            </a:extLst>
          </p:cNvPr>
          <p:cNvSpPr>
            <a:spLocks xmlns:a="http://schemas.openxmlformats.org/drawingml/2006/main" noGrp="1"/>
          </p:cNvSpPr>
          <p:nvPr/>
        </p:nvSpPr>
        <p:spPr>
          <a:xfrm xmlns:a="http://schemas.openxmlformats.org/drawingml/2006/main">
            <a:off x="1181100" y="3495389"/>
            <a:ext cx="114300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41413"/>
                </a:solidFill>
                <a:latin typeface="Arial"/>
                <a:ea typeface="Arial"/>
                <a:cs typeface="Arial"/>
              </a:defRPr>
            </a:defPPr>
          </a:lstStyle>
          <a:p xmlns:a="http://schemas.openxmlformats.org/drawingml/2006/main">
            <a:pPr algn="ctr">
              <a:defRPr sz="1725" b="0">
                <a:solidFill>
                  <a:srgbClr val="141413"/>
                </a:solidFill>
                <a:latin typeface="Arial"/>
                <a:ea typeface="Arial"/>
                <a:cs typeface="Arial"/>
              </a:defRPr>
            </a:pPr>
            <a:r>
              <a:rPr sz="1725" b="0">
                <a:solidFill>
                  <a:srgbClr val="141413"/>
                </a:solidFill>
                <a:latin typeface="Arial"/>
                <a:ea typeface="Arial"/>
                <a:cs typeface="Arial"/>
              </a:rPr>
              <a:t>Defence</a:t>
            </a:r>
          </a:p>
        </p:txBody>
      </p:sp>
      <p:sp>
        <p:nvSpPr>
          <p:cNvPr id="10" name="text-20">
            <a:extLst xmlns:a="http://schemas.openxmlformats.org/drawingml/2006/main">
              <a:ext uri="{FF2B5EF4-FFF2-40B4-BE49-F238E27FC236}">
                <a16:creationId xmlns:a16="http://schemas.microsoft.com/office/drawing/2014/main" id="{2F2298F1-B1FA-4A57-B77F-991363032162}"/>
              </a:ext>
            </a:extLst>
          </p:cNvPr>
          <p:cNvSpPr>
            <a:spLocks xmlns:a="http://schemas.openxmlformats.org/drawingml/2006/main" noGrp="1"/>
          </p:cNvSpPr>
          <p:nvPr/>
        </p:nvSpPr>
        <p:spPr>
          <a:xfrm xmlns:a="http://schemas.openxmlformats.org/drawingml/2006/main">
            <a:off x="2914650" y="3371850"/>
            <a:ext cx="8058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41413"/>
                </a:solidFill>
                <a:latin typeface="Arial"/>
                <a:ea typeface="Arial"/>
                <a:cs typeface="Arial"/>
              </a:defRPr>
            </a:defPPr>
          </a:lstStyle>
          <a:p xmlns:a="http://schemas.openxmlformats.org/drawingml/2006/main">
            <a:pPr algn="l">
              <a:defRPr sz="2850" b="0">
                <a:solidFill>
                  <a:srgbClr val="141413"/>
                </a:solidFill>
                <a:latin typeface="Arial"/>
                <a:ea typeface="Arial"/>
                <a:cs typeface="Arial"/>
              </a:defRPr>
            </a:pPr>
            <a:r>
              <a:rPr sz="2850" b="0">
                <a:solidFill>
                  <a:srgbClr val="141413"/>
                </a:solidFill>
                <a:latin typeface="Arial"/>
                <a:ea typeface="Arial"/>
                <a:cs typeface="Arial"/>
              </a:rPr>
              <a:t>What will attackers use, and how soon?</a:t>
            </a:r>
          </a:p>
        </p:txBody>
      </p:sp>
      <p:sp>
        <p:nvSpPr>
          <p:cNvPr id="11" name="text-21">
            <a:extLst xmlns:a="http://schemas.openxmlformats.org/drawingml/2006/main">
              <a:ext uri="{FF2B5EF4-FFF2-40B4-BE49-F238E27FC236}">
                <a16:creationId xmlns:a16="http://schemas.microsoft.com/office/drawing/2014/main" id="{0694F358-0F26-4074-986D-BD535853774A}"/>
              </a:ext>
            </a:extLst>
          </p:cNvPr>
          <p:cNvSpPr>
            <a:spLocks xmlns:a="http://schemas.openxmlformats.org/drawingml/2006/main" noGrp="1"/>
          </p:cNvSpPr>
          <p:nvPr/>
        </p:nvSpPr>
        <p:spPr>
          <a:xfrm xmlns:a="http://schemas.openxmlformats.org/drawingml/2006/main">
            <a:off x="990600" y="4552950"/>
            <a:ext cx="1004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1413"/>
                </a:solidFill>
                <a:latin typeface="Arial"/>
                <a:ea typeface="Arial"/>
                <a:cs typeface="Arial"/>
              </a:defRPr>
            </a:defPPr>
          </a:lstStyle>
          <a:p xmlns:a="http://schemas.openxmlformats.org/drawingml/2006/main">
            <a:pPr algn="l">
              <a:defRPr sz="2175" b="0">
                <a:solidFill>
                  <a:srgbClr val="141413"/>
                </a:solidFill>
                <a:latin typeface="Arial"/>
                <a:ea typeface="Arial"/>
                <a:cs typeface="Arial"/>
              </a:defRPr>
            </a:pPr>
            <a:r>
              <a:rPr sz="2175" b="0">
                <a:solidFill>
                  <a:srgbClr val="141413"/>
                </a:solidFill>
                <a:latin typeface="Arial"/>
                <a:ea typeface="Arial"/>
                <a:cs typeface="Arial"/>
              </a:rPr>
              <a:t>KEV gives evidence of exploitation in the wild.</a:t>
            </a:r>
          </a:p>
        </p:txBody>
      </p:sp>
      <p:sp>
        <p:nvSpPr>
          <p:cNvPr id="12" name="text-22">
            <a:extLst xmlns:a="http://schemas.openxmlformats.org/drawingml/2006/main">
              <a:ext uri="{FF2B5EF4-FFF2-40B4-BE49-F238E27FC236}">
                <a16:creationId xmlns:a16="http://schemas.microsoft.com/office/drawing/2014/main" id="{4722CA32-CF98-4761-A00C-DCEE35B4ECCF}"/>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KEV is an observed catalogue, not a complete census of exploitation.</a:t>
            </a:r>
          </a:p>
        </p:txBody>
      </p:sp>
    </p:spTree>
    <p:extLst>
      <p:ext uri="{BB962C8B-B14F-4D97-AF65-F5344CB8AC3E}">
        <p14:creationId xmlns:p14="http://schemas.microsoft.com/office/powerpoint/2010/main" val="1123325190"/>
      </p:ext>
    </p:extLst>
  </p:cSld>
</p:sld>
</file>

<file path=ppt/slides/slide3.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5" name="text-23">
            <a:extLst xmlns:a="http://schemas.openxmlformats.org/drawingml/2006/main">
              <a:ext uri="{FF2B5EF4-FFF2-40B4-BE49-F238E27FC236}">
                <a16:creationId xmlns:a16="http://schemas.microsoft.com/office/drawing/2014/main" id="{C92F673B-BEE8-4C34-8469-FD1E4933B25F}"/>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Two questions</a:t>
            </a:r>
          </a:p>
        </p:txBody>
      </p:sp>
      <p:sp>
        <p:nvSpPr>
          <p:cNvPr id="2" name="text-24">
            <a:extLst xmlns:a="http://schemas.openxmlformats.org/drawingml/2006/main">
              <a:ext uri="{FF2B5EF4-FFF2-40B4-BE49-F238E27FC236}">
                <a16:creationId xmlns:a16="http://schemas.microsoft.com/office/drawing/2014/main" id="{9C1AED5B-72A4-4447-A51C-CFA3289D81A5}"/>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03</a:t>
            </a:r>
          </a:p>
        </p:txBody>
      </p:sp>
      <p:sp>
        <p:nvSpPr>
          <p:cNvPr id="3" name="shape-25">
            <a:extLst xmlns:a="http://schemas.openxmlformats.org/drawingml/2006/main">
              <a:ext uri="{FF2B5EF4-FFF2-40B4-BE49-F238E27FC236}">
                <a16:creationId xmlns:a16="http://schemas.microsoft.com/office/drawing/2014/main" id="{C17BFA44-03E9-4A9F-8934-0F09291A106F}"/>
              </a:ext>
            </a:extLst>
          </p:cNvPr>
          <p:cNvSpPr>
            <a:spLocks xmlns:a="http://schemas.openxmlformats.org/drawingml/2006/main" noGrp="1"/>
          </p:cNvSpPr>
          <p:nvPr/>
        </p:nvSpPr>
        <p:spPr>
          <a:xfrm xmlns:a="http://schemas.openxmlformats.org/drawingml/2006/main">
            <a:off x="609600" y="1733550"/>
            <a:ext cx="5334000" cy="3238500"/>
          </a:xfrm>
          <a:prstGeom xmlns:a="http://schemas.openxmlformats.org/drawingml/2006/main" prst="roundRect">
            <a:avLst>
              <a:gd name="adj" fmla="val 11765"/>
            </a:avLst>
          </a:prstGeom>
          <a:solidFill xmlns:a="http://schemas.openxmlformats.org/drawingml/2006/main">
            <a:srgbClr val="FCFBFA"/>
          </a:solidFill>
          <a:ln xmlns:a="http://schemas.openxmlformats.org/drawingml/2006/main" w="0">
            <a:noFill/>
          </a:ln>
        </p:spPr>
      </p:sp>
      <p:sp>
        <p:nvSpPr>
          <p:cNvPr id="4" name="shape-26">
            <a:extLst xmlns:a="http://schemas.openxmlformats.org/drawingml/2006/main">
              <a:ext uri="{FF2B5EF4-FFF2-40B4-BE49-F238E27FC236}">
                <a16:creationId xmlns:a16="http://schemas.microsoft.com/office/drawing/2014/main" id="{83B3DDC3-2B97-4808-BA77-2902EC8E62D4}"/>
              </a:ext>
            </a:extLst>
          </p:cNvPr>
          <p:cNvSpPr>
            <a:spLocks xmlns:a="http://schemas.openxmlformats.org/drawingml/2006/main" noGrp="1"/>
          </p:cNvSpPr>
          <p:nvPr/>
        </p:nvSpPr>
        <p:spPr>
          <a:xfrm xmlns:a="http://schemas.openxmlformats.org/drawingml/2006/main">
            <a:off x="923925" y="2114550"/>
            <a:ext cx="85725" cy="85725"/>
          </a:xfrm>
          <a:prstGeom xmlns:a="http://schemas.openxmlformats.org/drawingml/2006/main" prst="ellipse">
            <a:avLst/>
          </a:prstGeom>
          <a:solidFill xmlns:a="http://schemas.openxmlformats.org/drawingml/2006/main">
            <a:srgbClr val="F37338"/>
          </a:solidFill>
          <a:ln xmlns:a="http://schemas.openxmlformats.org/drawingml/2006/main" w="0">
            <a:noFill/>
          </a:ln>
        </p:spPr>
      </p:sp>
      <p:sp>
        <p:nvSpPr>
          <p:cNvPr id="5" name="text-27">
            <a:extLst xmlns:a="http://schemas.openxmlformats.org/drawingml/2006/main">
              <a:ext uri="{FF2B5EF4-FFF2-40B4-BE49-F238E27FC236}">
                <a16:creationId xmlns:a16="http://schemas.microsoft.com/office/drawing/2014/main" id="{C3A42559-70E7-40F5-ABEA-34BE6AC09CF8}"/>
              </a:ext>
            </a:extLst>
          </p:cNvPr>
          <p:cNvSpPr>
            <a:spLocks xmlns:a="http://schemas.openxmlformats.org/drawingml/2006/main" noGrp="1"/>
          </p:cNvSpPr>
          <p:nvPr/>
        </p:nvSpPr>
        <p:spPr>
          <a:xfrm xmlns:a="http://schemas.openxmlformats.org/drawingml/2006/main">
            <a:off x="1114425" y="2038350"/>
            <a:ext cx="452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96969"/>
                </a:solidFill>
                <a:latin typeface="Arial"/>
                <a:ea typeface="Arial"/>
                <a:cs typeface="Arial"/>
              </a:defRPr>
            </a:defPPr>
          </a:lstStyle>
          <a:p xmlns:a="http://schemas.openxmlformats.org/drawingml/2006/main">
            <a:pPr algn="l">
              <a:defRPr sz="1275" b="1">
                <a:solidFill>
                  <a:srgbClr val="696969"/>
                </a:solidFill>
                <a:latin typeface="Arial"/>
                <a:ea typeface="Arial"/>
                <a:cs typeface="Arial"/>
              </a:defRPr>
            </a:pPr>
            <a:r>
              <a:rPr sz="1275" b="1">
                <a:solidFill>
                  <a:srgbClr val="696969"/>
                </a:solidFill>
                <a:latin typeface="Arial"/>
                <a:ea typeface="Arial"/>
                <a:cs typeface="Arial"/>
              </a:rPr>
              <a:t>Q1 / REGRESSION</a:t>
            </a:r>
          </a:p>
        </p:txBody>
      </p:sp>
      <p:sp>
        <p:nvSpPr>
          <p:cNvPr id="6" name="text-28">
            <a:extLst xmlns:a="http://schemas.openxmlformats.org/drawingml/2006/main">
              <a:ext uri="{FF2B5EF4-FFF2-40B4-BE49-F238E27FC236}">
                <a16:creationId xmlns:a16="http://schemas.microsoft.com/office/drawing/2014/main" id="{1B370F2F-83A3-43FE-A882-0DA377C0B829}"/>
              </a:ext>
            </a:extLst>
          </p:cNvPr>
          <p:cNvSpPr>
            <a:spLocks xmlns:a="http://schemas.openxmlformats.org/drawingml/2006/main" noGrp="1"/>
          </p:cNvSpPr>
          <p:nvPr/>
        </p:nvSpPr>
        <p:spPr>
          <a:xfrm xmlns:a="http://schemas.openxmlformats.org/drawingml/2006/main">
            <a:off x="914400" y="2609850"/>
            <a:ext cx="4724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41413"/>
                </a:solidFill>
                <a:latin typeface="Arial"/>
                <a:ea typeface="Arial"/>
                <a:cs typeface="Arial"/>
              </a:defRPr>
            </a:defPPr>
          </a:lstStyle>
          <a:p xmlns:a="http://schemas.openxmlformats.org/drawingml/2006/main">
            <a:pPr algn="l">
              <a:defRPr sz="2700" b="0">
                <a:solidFill>
                  <a:srgbClr val="141413"/>
                </a:solidFill>
                <a:latin typeface="Arial"/>
                <a:ea typeface="Arial"/>
                <a:cs typeface="Arial"/>
              </a:defRPr>
            </a:pPr>
            <a:r>
              <a:rPr sz="2700" b="0">
                <a:solidFill>
                  <a:srgbClr val="141413"/>
                </a:solidFill>
                <a:latin typeface="Arial"/>
                <a:ea typeface="Arial"/>
                <a:cs typeface="Arial"/>
              </a:rPr>
              <a:t>Can CVE traits predict</a:t>
            </a:r>
          </a:p>
          <a:p xmlns:a="http://schemas.openxmlformats.org/drawingml/2006/main">
            <a:pPr algn="l">
              <a:defRPr sz="2700" b="0">
                <a:solidFill>
                  <a:srgbClr val="141413"/>
                </a:solidFill>
                <a:latin typeface="Arial"/>
                <a:ea typeface="Arial"/>
                <a:cs typeface="Arial"/>
              </a:defRPr>
            </a:pPr>
            <a:r>
              <a:rPr sz="2700" b="0">
                <a:solidFill>
                  <a:srgbClr val="141413"/>
                </a:solidFill>
                <a:latin typeface="Arial"/>
                <a:ea typeface="Arial"/>
                <a:cs typeface="Arial"/>
              </a:rPr>
              <a:t>exploitation speed?</a:t>
            </a:r>
          </a:p>
        </p:txBody>
      </p:sp>
      <p:sp>
        <p:nvSpPr>
          <p:cNvPr id="7" name="text-29">
            <a:extLst xmlns:a="http://schemas.openxmlformats.org/drawingml/2006/main">
              <a:ext uri="{FF2B5EF4-FFF2-40B4-BE49-F238E27FC236}">
                <a16:creationId xmlns:a16="http://schemas.microsoft.com/office/drawing/2014/main" id="{7F3E2C40-07C8-4C7A-9957-E00D3EA08D5D}"/>
              </a:ext>
            </a:extLst>
          </p:cNvPr>
          <p:cNvSpPr>
            <a:spLocks xmlns:a="http://schemas.openxmlformats.org/drawingml/2006/main" noGrp="1"/>
          </p:cNvSpPr>
          <p:nvPr/>
        </p:nvSpPr>
        <p:spPr>
          <a:xfrm xmlns:a="http://schemas.openxmlformats.org/drawingml/2006/main">
            <a:off x="914400" y="4238625"/>
            <a:ext cx="4724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96969"/>
                </a:solidFill>
                <a:latin typeface="Arial"/>
                <a:ea typeface="Arial"/>
                <a:cs typeface="Arial"/>
              </a:defRPr>
            </a:defPPr>
          </a:lstStyle>
          <a:p xmlns:a="http://schemas.openxmlformats.org/drawingml/2006/main">
            <a:pPr algn="l">
              <a:defRPr sz="1650" b="0">
                <a:solidFill>
                  <a:srgbClr val="696969"/>
                </a:solidFill>
                <a:latin typeface="Arial"/>
                <a:ea typeface="Arial"/>
                <a:cs typeface="Arial"/>
              </a:defRPr>
            </a:pPr>
            <a:r>
              <a:rPr sz="1650" b="0">
                <a:solidFill>
                  <a:srgbClr val="696969"/>
                </a:solidFill>
                <a:latin typeface="Arial"/>
                <a:ea typeface="Arial"/>
                <a:cs typeface="Arial"/>
              </a:rPr>
              <a:t>Proxy: publication-to-KEV-listing lag</a:t>
            </a:r>
          </a:p>
        </p:txBody>
      </p:sp>
      <p:sp>
        <p:nvSpPr>
          <p:cNvPr id="8" name="shape-30">
            <a:extLst xmlns:a="http://schemas.openxmlformats.org/drawingml/2006/main">
              <a:ext uri="{FF2B5EF4-FFF2-40B4-BE49-F238E27FC236}">
                <a16:creationId xmlns:a16="http://schemas.microsoft.com/office/drawing/2014/main" id="{EAD490AF-31FF-4979-AE51-7E19D62847A8}"/>
              </a:ext>
            </a:extLst>
          </p:cNvPr>
          <p:cNvSpPr>
            <a:spLocks xmlns:a="http://schemas.openxmlformats.org/drawingml/2006/main" noGrp="1"/>
          </p:cNvSpPr>
          <p:nvPr/>
        </p:nvSpPr>
        <p:spPr>
          <a:xfrm xmlns:a="http://schemas.openxmlformats.org/drawingml/2006/main">
            <a:off x="6248400" y="1733550"/>
            <a:ext cx="5334000" cy="3238500"/>
          </a:xfrm>
          <a:prstGeom xmlns:a="http://schemas.openxmlformats.org/drawingml/2006/main" prst="roundRect">
            <a:avLst>
              <a:gd name="adj" fmla="val 11765"/>
            </a:avLst>
          </a:prstGeom>
          <a:solidFill xmlns:a="http://schemas.openxmlformats.org/drawingml/2006/main">
            <a:srgbClr val="FCFBFA"/>
          </a:solidFill>
          <a:ln xmlns:a="http://schemas.openxmlformats.org/drawingml/2006/main" w="0">
            <a:noFill/>
          </a:ln>
        </p:spPr>
      </p:sp>
      <p:sp>
        <p:nvSpPr>
          <p:cNvPr id="9" name="shape-31">
            <a:extLst xmlns:a="http://schemas.openxmlformats.org/drawingml/2006/main">
              <a:ext uri="{FF2B5EF4-FFF2-40B4-BE49-F238E27FC236}">
                <a16:creationId xmlns:a16="http://schemas.microsoft.com/office/drawing/2014/main" id="{8237E0FB-2813-4A58-A9ED-EEB4CC1909F7}"/>
              </a:ext>
            </a:extLst>
          </p:cNvPr>
          <p:cNvSpPr>
            <a:spLocks xmlns:a="http://schemas.openxmlformats.org/drawingml/2006/main" noGrp="1"/>
          </p:cNvSpPr>
          <p:nvPr/>
        </p:nvSpPr>
        <p:spPr>
          <a:xfrm xmlns:a="http://schemas.openxmlformats.org/drawingml/2006/main">
            <a:off x="6562725" y="2114550"/>
            <a:ext cx="85725" cy="85725"/>
          </a:xfrm>
          <a:prstGeom xmlns:a="http://schemas.openxmlformats.org/drawingml/2006/main" prst="ellipse">
            <a:avLst/>
          </a:prstGeom>
          <a:solidFill xmlns:a="http://schemas.openxmlformats.org/drawingml/2006/main">
            <a:srgbClr val="F37338"/>
          </a:solidFill>
          <a:ln xmlns:a="http://schemas.openxmlformats.org/drawingml/2006/main" w="0">
            <a:noFill/>
          </a:ln>
        </p:spPr>
      </p:sp>
      <p:sp>
        <p:nvSpPr>
          <p:cNvPr id="10" name="text-32">
            <a:extLst xmlns:a="http://schemas.openxmlformats.org/drawingml/2006/main">
              <a:ext uri="{FF2B5EF4-FFF2-40B4-BE49-F238E27FC236}">
                <a16:creationId xmlns:a16="http://schemas.microsoft.com/office/drawing/2014/main" id="{4AF4E32F-E715-4C3C-BD6C-34B7517FD7C7}"/>
              </a:ext>
            </a:extLst>
          </p:cNvPr>
          <p:cNvSpPr>
            <a:spLocks xmlns:a="http://schemas.openxmlformats.org/drawingml/2006/main" noGrp="1"/>
          </p:cNvSpPr>
          <p:nvPr/>
        </p:nvSpPr>
        <p:spPr>
          <a:xfrm xmlns:a="http://schemas.openxmlformats.org/drawingml/2006/main">
            <a:off x="6753225" y="2038350"/>
            <a:ext cx="452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96969"/>
                </a:solidFill>
                <a:latin typeface="Arial"/>
                <a:ea typeface="Arial"/>
                <a:cs typeface="Arial"/>
              </a:defRPr>
            </a:defPPr>
          </a:lstStyle>
          <a:p xmlns:a="http://schemas.openxmlformats.org/drawingml/2006/main">
            <a:pPr algn="l">
              <a:defRPr sz="1275" b="1">
                <a:solidFill>
                  <a:srgbClr val="696969"/>
                </a:solidFill>
                <a:latin typeface="Arial"/>
                <a:ea typeface="Arial"/>
                <a:cs typeface="Arial"/>
              </a:defRPr>
            </a:pPr>
            <a:r>
              <a:rPr sz="1275" b="1">
                <a:solidFill>
                  <a:srgbClr val="696969"/>
                </a:solidFill>
                <a:latin typeface="Arial"/>
                <a:ea typeface="Arial"/>
                <a:cs typeface="Arial"/>
              </a:rPr>
              <a:t>Q2 / CLASSIFICATION</a:t>
            </a:r>
          </a:p>
        </p:txBody>
      </p:sp>
      <p:sp>
        <p:nvSpPr>
          <p:cNvPr id="11" name="text-33">
            <a:extLst xmlns:a="http://schemas.openxmlformats.org/drawingml/2006/main">
              <a:ext uri="{FF2B5EF4-FFF2-40B4-BE49-F238E27FC236}">
                <a16:creationId xmlns:a16="http://schemas.microsoft.com/office/drawing/2014/main" id="{6E799EF3-AD28-44F1-ACC9-5FD158B4C49B}"/>
              </a:ext>
            </a:extLst>
          </p:cNvPr>
          <p:cNvSpPr>
            <a:spLocks xmlns:a="http://schemas.openxmlformats.org/drawingml/2006/main" noGrp="1"/>
          </p:cNvSpPr>
          <p:nvPr/>
        </p:nvSpPr>
        <p:spPr>
          <a:xfrm xmlns:a="http://schemas.openxmlformats.org/drawingml/2006/main">
            <a:off x="6553200" y="2609850"/>
            <a:ext cx="4724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41413"/>
                </a:solidFill>
                <a:latin typeface="Arial"/>
                <a:ea typeface="Arial"/>
                <a:cs typeface="Arial"/>
              </a:defRPr>
            </a:defPPr>
          </a:lstStyle>
          <a:p xmlns:a="http://schemas.openxmlformats.org/drawingml/2006/main">
            <a:pPr algn="l">
              <a:defRPr sz="2700" b="0">
                <a:solidFill>
                  <a:srgbClr val="141413"/>
                </a:solidFill>
                <a:latin typeface="Arial"/>
                <a:ea typeface="Arial"/>
                <a:cs typeface="Arial"/>
              </a:defRPr>
            </a:pPr>
            <a:r>
              <a:rPr sz="2700" b="0">
                <a:solidFill>
                  <a:srgbClr val="141413"/>
                </a:solidFill>
                <a:latin typeface="Arial"/>
                <a:ea typeface="Arial"/>
                <a:cs typeface="Arial"/>
              </a:rPr>
              <a:t>Which exploited CVEs</a:t>
            </a:r>
          </a:p>
          <a:p xmlns:a="http://schemas.openxmlformats.org/drawingml/2006/main">
            <a:pPr algn="l">
              <a:defRPr sz="2700" b="0">
                <a:solidFill>
                  <a:srgbClr val="141413"/>
                </a:solidFill>
                <a:latin typeface="Arial"/>
                <a:ea typeface="Arial"/>
                <a:cs typeface="Arial"/>
              </a:defRPr>
            </a:pPr>
            <a:r>
              <a:rPr sz="2700" b="0">
                <a:solidFill>
                  <a:srgbClr val="141413"/>
                </a:solidFill>
                <a:latin typeface="Arial"/>
                <a:ea typeface="Arial"/>
                <a:cs typeface="Arial"/>
              </a:rPr>
              <a:t>are linked to ransomware?</a:t>
            </a:r>
          </a:p>
        </p:txBody>
      </p:sp>
      <p:sp>
        <p:nvSpPr>
          <p:cNvPr id="12" name="text-34">
            <a:extLst xmlns:a="http://schemas.openxmlformats.org/drawingml/2006/main">
              <a:ext uri="{FF2B5EF4-FFF2-40B4-BE49-F238E27FC236}">
                <a16:creationId xmlns:a16="http://schemas.microsoft.com/office/drawing/2014/main" id="{626FFCC0-B2B5-4883-9F91-B20A2FCB31C8}"/>
              </a:ext>
            </a:extLst>
          </p:cNvPr>
          <p:cNvSpPr>
            <a:spLocks xmlns:a="http://schemas.openxmlformats.org/drawingml/2006/main" noGrp="1"/>
          </p:cNvSpPr>
          <p:nvPr/>
        </p:nvSpPr>
        <p:spPr>
          <a:xfrm xmlns:a="http://schemas.openxmlformats.org/drawingml/2006/main">
            <a:off x="6553200" y="4238625"/>
            <a:ext cx="4724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96969"/>
                </a:solidFill>
                <a:latin typeface="Arial"/>
                <a:ea typeface="Arial"/>
                <a:cs typeface="Arial"/>
              </a:defRPr>
            </a:defPPr>
          </a:lstStyle>
          <a:p xmlns:a="http://schemas.openxmlformats.org/drawingml/2006/main">
            <a:pPr algn="l">
              <a:defRPr sz="1650" b="0">
                <a:solidFill>
                  <a:srgbClr val="696969"/>
                </a:solidFill>
                <a:latin typeface="Arial"/>
                <a:ea typeface="Arial"/>
                <a:cs typeface="Arial"/>
              </a:defRPr>
            </a:pPr>
            <a:r>
              <a:rPr sz="1650" b="0">
                <a:solidFill>
                  <a:srgbClr val="696969"/>
                </a:solidFill>
                <a:latin typeface="Arial"/>
                <a:ea typeface="Arial"/>
                <a:cs typeface="Arial"/>
              </a:rPr>
              <a:t>Target: Known ransomware use in KEV</a:t>
            </a:r>
          </a:p>
        </p:txBody>
      </p:sp>
      <p:sp>
        <p:nvSpPr>
          <p:cNvPr id="13" name="shape-35">
            <a:extLst xmlns:a="http://schemas.openxmlformats.org/drawingml/2006/main">
              <a:ext uri="{FF2B5EF4-FFF2-40B4-BE49-F238E27FC236}">
                <a16:creationId xmlns:a16="http://schemas.microsoft.com/office/drawing/2014/main" id="{188ADD7C-891E-41D3-AE3E-8286DBD0AC2A}"/>
              </a:ext>
            </a:extLst>
          </p:cNvPr>
          <p:cNvSpPr>
            <a:spLocks xmlns:a="http://schemas.openxmlformats.org/drawingml/2006/main" noGrp="1"/>
          </p:cNvSpPr>
          <p:nvPr/>
        </p:nvSpPr>
        <p:spPr>
          <a:xfrm xmlns:a="http://schemas.openxmlformats.org/drawingml/2006/main">
            <a:off x="2952750" y="5429250"/>
            <a:ext cx="6286500" cy="619125"/>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14" name="text-36">
            <a:extLst xmlns:a="http://schemas.openxmlformats.org/drawingml/2006/main">
              <a:ext uri="{FF2B5EF4-FFF2-40B4-BE49-F238E27FC236}">
                <a16:creationId xmlns:a16="http://schemas.microsoft.com/office/drawing/2014/main" id="{C0E4A572-0238-4033-BC66-7A2992DBBE24}"/>
              </a:ext>
            </a:extLst>
          </p:cNvPr>
          <p:cNvSpPr>
            <a:spLocks xmlns:a="http://schemas.openxmlformats.org/drawingml/2006/main" noGrp="1"/>
          </p:cNvSpPr>
          <p:nvPr/>
        </p:nvSpPr>
        <p:spPr>
          <a:xfrm xmlns:a="http://schemas.openxmlformats.org/drawingml/2006/main">
            <a:off x="3143250" y="5581936"/>
            <a:ext cx="5905500" cy="347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F3F0EE"/>
                </a:solidFill>
                <a:latin typeface="Arial"/>
                <a:ea typeface="Arial"/>
                <a:cs typeface="Arial"/>
              </a:defRPr>
            </a:defPPr>
          </a:lstStyle>
          <a:p xmlns:a="http://schemas.openxmlformats.org/drawingml/2006/main">
            <a:pPr algn="ctr">
              <a:defRPr sz="2025" b="0">
                <a:solidFill>
                  <a:srgbClr val="F3F0EE"/>
                </a:solidFill>
                <a:latin typeface="Arial"/>
                <a:ea typeface="Arial"/>
                <a:cs typeface="Arial"/>
              </a:defRPr>
            </a:pPr>
            <a:r>
              <a:rPr sz="2025" b="0">
                <a:solidFill>
                  <a:srgbClr val="F3F0EE"/>
                </a:solidFill>
                <a:latin typeface="Arial"/>
                <a:ea typeface="Arial"/>
                <a:cs typeface="Arial"/>
              </a:rPr>
              <a:t>One dead end. One modest signal.</a:t>
            </a:r>
          </a:p>
        </p:txBody>
      </p:sp>
    </p:spTree>
    <p:extLst>
      <p:ext uri="{BB962C8B-B14F-4D97-AF65-F5344CB8AC3E}">
        <p14:creationId xmlns:p14="http://schemas.microsoft.com/office/powerpoint/2010/main" val="304219297"/>
      </p:ext>
    </p:extLst>
  </p:cSld>
</p:sld>
</file>

<file path=ppt/slides/slide4.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24" name="text-37">
            <a:extLst xmlns:a="http://schemas.openxmlformats.org/drawingml/2006/main">
              <a:ext uri="{FF2B5EF4-FFF2-40B4-BE49-F238E27FC236}">
                <a16:creationId xmlns:a16="http://schemas.microsoft.com/office/drawing/2014/main" id="{35EF1B3E-9BC4-4F29-B697-707B3E96AAC0}"/>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Dataset I built</a:t>
            </a:r>
          </a:p>
        </p:txBody>
      </p:sp>
      <p:sp>
        <p:nvSpPr>
          <p:cNvPr id="2" name="text-38">
            <a:extLst xmlns:a="http://schemas.openxmlformats.org/drawingml/2006/main">
              <a:ext uri="{FF2B5EF4-FFF2-40B4-BE49-F238E27FC236}">
                <a16:creationId xmlns:a16="http://schemas.microsoft.com/office/drawing/2014/main" id="{18F63C77-D5BF-4592-815D-24D50431ECAC}"/>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CISA KEV joined to MITRE CVE records by CVE ID</a:t>
            </a:r>
          </a:p>
        </p:txBody>
      </p:sp>
      <p:sp>
        <p:nvSpPr>
          <p:cNvPr id="3" name="text-39">
            <a:extLst xmlns:a="http://schemas.openxmlformats.org/drawingml/2006/main">
              <a:ext uri="{FF2B5EF4-FFF2-40B4-BE49-F238E27FC236}">
                <a16:creationId xmlns:a16="http://schemas.microsoft.com/office/drawing/2014/main" id="{3CE19B37-92D9-4465-831D-CCEB500B554E}"/>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04</a:t>
            </a:r>
          </a:p>
        </p:txBody>
      </p:sp>
      <p:sp>
        <p:nvSpPr>
          <p:cNvPr id="4" name="shape-40">
            <a:extLst xmlns:a="http://schemas.openxmlformats.org/drawingml/2006/main">
              <a:ext uri="{FF2B5EF4-FFF2-40B4-BE49-F238E27FC236}">
                <a16:creationId xmlns:a16="http://schemas.microsoft.com/office/drawing/2014/main" id="{ED8C5350-DEE2-40ED-A82A-4E2FD86F7D0F}"/>
              </a:ext>
            </a:extLst>
          </p:cNvPr>
          <p:cNvSpPr>
            <a:spLocks xmlns:a="http://schemas.openxmlformats.org/drawingml/2006/main" noGrp="1"/>
          </p:cNvSpPr>
          <p:nvPr/>
        </p:nvSpPr>
        <p:spPr>
          <a:xfrm xmlns:a="http://schemas.openxmlformats.org/drawingml/2006/main">
            <a:off x="609600" y="1828800"/>
            <a:ext cx="10972800" cy="1466850"/>
          </a:xfrm>
          <a:prstGeom xmlns:a="http://schemas.openxmlformats.org/drawingml/2006/main" prst="roundRect">
            <a:avLst>
              <a:gd name="adj" fmla="val 25974"/>
            </a:avLst>
          </a:prstGeom>
          <a:solidFill xmlns:a="http://schemas.openxmlformats.org/drawingml/2006/main">
            <a:srgbClr val="FCFBFA"/>
          </a:solidFill>
          <a:ln xmlns:a="http://schemas.openxmlformats.org/drawingml/2006/main" w="0">
            <a:noFill/>
          </a:ln>
        </p:spPr>
      </p:sp>
      <p:sp>
        <p:nvSpPr>
          <p:cNvPr id="5" name="text-41">
            <a:extLst xmlns:a="http://schemas.openxmlformats.org/drawingml/2006/main">
              <a:ext uri="{FF2B5EF4-FFF2-40B4-BE49-F238E27FC236}">
                <a16:creationId xmlns:a16="http://schemas.microsoft.com/office/drawing/2014/main" id="{84E87E97-851A-4E3E-9232-D1715741625B}"/>
              </a:ext>
            </a:extLst>
          </p:cNvPr>
          <p:cNvSpPr>
            <a:spLocks xmlns:a="http://schemas.openxmlformats.org/drawingml/2006/main" noGrp="1"/>
          </p:cNvSpPr>
          <p:nvPr/>
        </p:nvSpPr>
        <p:spPr>
          <a:xfrm xmlns:a="http://schemas.openxmlformats.org/drawingml/2006/main">
            <a:off x="895350" y="2066925"/>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41413"/>
                </a:solidFill>
                <a:latin typeface="Arial"/>
                <a:ea typeface="Arial"/>
                <a:cs typeface="Arial"/>
              </a:defRPr>
            </a:defPPr>
          </a:lstStyle>
          <a:p xmlns:a="http://schemas.openxmlformats.org/drawingml/2006/main">
            <a:pPr algn="l">
              <a:defRPr sz="3600" b="0">
                <a:solidFill>
                  <a:srgbClr val="141413"/>
                </a:solidFill>
                <a:latin typeface="Arial"/>
                <a:ea typeface="Arial"/>
                <a:cs typeface="Arial"/>
              </a:defRPr>
            </a:pPr>
            <a:r>
              <a:rPr sz="3600" b="0">
                <a:solidFill>
                  <a:srgbClr val="141413"/>
                </a:solidFill>
                <a:latin typeface="Arial"/>
                <a:ea typeface="Arial"/>
                <a:cs typeface="Arial"/>
              </a:rPr>
              <a:t>1,694</a:t>
            </a:r>
          </a:p>
        </p:txBody>
      </p:sp>
      <p:sp>
        <p:nvSpPr>
          <p:cNvPr id="6" name="text-42">
            <a:extLst xmlns:a="http://schemas.openxmlformats.org/drawingml/2006/main">
              <a:ext uri="{FF2B5EF4-FFF2-40B4-BE49-F238E27FC236}">
                <a16:creationId xmlns:a16="http://schemas.microsoft.com/office/drawing/2014/main" id="{EC93E23D-52F3-49F6-8568-43A0677F8BB5}"/>
              </a:ext>
            </a:extLst>
          </p:cNvPr>
          <p:cNvSpPr>
            <a:spLocks xmlns:a="http://schemas.openxmlformats.org/drawingml/2006/main" noGrp="1"/>
          </p:cNvSpPr>
          <p:nvPr/>
        </p:nvSpPr>
        <p:spPr>
          <a:xfrm xmlns:a="http://schemas.openxmlformats.org/drawingml/2006/main">
            <a:off x="895350" y="276225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96969"/>
                </a:solidFill>
                <a:latin typeface="Arial"/>
                <a:ea typeface="Arial"/>
                <a:cs typeface="Arial"/>
              </a:defRPr>
            </a:defPPr>
          </a:lstStyle>
          <a:p xmlns:a="http://schemas.openxmlformats.org/drawingml/2006/main">
            <a:pPr algn="l">
              <a:defRPr sz="1575" b="0">
                <a:solidFill>
                  <a:srgbClr val="696969"/>
                </a:solidFill>
                <a:latin typeface="Arial"/>
                <a:ea typeface="Arial"/>
                <a:cs typeface="Arial"/>
              </a:defRPr>
            </a:pPr>
            <a:r>
              <a:rPr sz="1575" b="0">
                <a:solidFill>
                  <a:srgbClr val="696969"/>
                </a:solidFill>
                <a:latin typeface="Arial"/>
                <a:ea typeface="Arial"/>
                <a:cs typeface="Arial"/>
              </a:rPr>
              <a:t>records</a:t>
            </a:r>
          </a:p>
        </p:txBody>
      </p:sp>
      <p:sp>
        <p:nvSpPr>
          <p:cNvPr id="7" name="shape-43">
            <a:extLst xmlns:a="http://schemas.openxmlformats.org/drawingml/2006/main">
              <a:ext uri="{FF2B5EF4-FFF2-40B4-BE49-F238E27FC236}">
                <a16:creationId xmlns:a16="http://schemas.microsoft.com/office/drawing/2014/main" id="{AB9BC2EC-FA22-4E63-B817-DF4B1C6D626F}"/>
              </a:ext>
            </a:extLst>
          </p:cNvPr>
          <p:cNvSpPr>
            <a:spLocks xmlns:a="http://schemas.openxmlformats.org/drawingml/2006/main" noGrp="1"/>
          </p:cNvSpPr>
          <p:nvPr/>
        </p:nvSpPr>
        <p:spPr>
          <a:xfrm xmlns:a="http://schemas.openxmlformats.org/drawingml/2006/main">
            <a:off x="3314700" y="2095500"/>
            <a:ext cx="9525" cy="885825"/>
          </a:xfrm>
          <a:prstGeom xmlns:a="http://schemas.openxmlformats.org/drawingml/2006/main" prst="rect">
            <a:avLst/>
          </a:prstGeom>
          <a:solidFill xmlns:a="http://schemas.openxmlformats.org/drawingml/2006/main">
            <a:srgbClr val="D1CDC7"/>
          </a:solidFill>
          <a:ln xmlns:a="http://schemas.openxmlformats.org/drawingml/2006/main" w="0">
            <a:noFill/>
          </a:ln>
        </p:spPr>
      </p:sp>
      <p:sp>
        <p:nvSpPr>
          <p:cNvPr id="8" name="text-44">
            <a:extLst xmlns:a="http://schemas.openxmlformats.org/drawingml/2006/main">
              <a:ext uri="{FF2B5EF4-FFF2-40B4-BE49-F238E27FC236}">
                <a16:creationId xmlns:a16="http://schemas.microsoft.com/office/drawing/2014/main" id="{77992AE6-999A-4185-9E09-07D8A2D09366}"/>
              </a:ext>
            </a:extLst>
          </p:cNvPr>
          <p:cNvSpPr>
            <a:spLocks xmlns:a="http://schemas.openxmlformats.org/drawingml/2006/main" noGrp="1"/>
          </p:cNvSpPr>
          <p:nvPr/>
        </p:nvSpPr>
        <p:spPr>
          <a:xfrm xmlns:a="http://schemas.openxmlformats.org/drawingml/2006/main">
            <a:off x="3638550" y="2066925"/>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41413"/>
                </a:solidFill>
                <a:latin typeface="Arial"/>
                <a:ea typeface="Arial"/>
                <a:cs typeface="Arial"/>
              </a:defRPr>
            </a:defPPr>
          </a:lstStyle>
          <a:p xmlns:a="http://schemas.openxmlformats.org/drawingml/2006/main">
            <a:pPr algn="l">
              <a:defRPr sz="3600" b="0">
                <a:solidFill>
                  <a:srgbClr val="141413"/>
                </a:solidFill>
                <a:latin typeface="Arial"/>
                <a:ea typeface="Arial"/>
                <a:cs typeface="Arial"/>
              </a:defRPr>
            </a:pPr>
            <a:r>
              <a:rPr sz="3600" b="0">
                <a:solidFill>
                  <a:srgbClr val="141413"/>
                </a:solidFill>
                <a:latin typeface="Arial"/>
                <a:ea typeface="Arial"/>
                <a:cs typeface="Arial"/>
              </a:rPr>
              <a:t>39</a:t>
            </a:r>
          </a:p>
        </p:txBody>
      </p:sp>
      <p:sp>
        <p:nvSpPr>
          <p:cNvPr id="9" name="text-45">
            <a:extLst xmlns:a="http://schemas.openxmlformats.org/drawingml/2006/main">
              <a:ext uri="{FF2B5EF4-FFF2-40B4-BE49-F238E27FC236}">
                <a16:creationId xmlns:a16="http://schemas.microsoft.com/office/drawing/2014/main" id="{A27D855F-17F7-474B-B994-294B31733137}"/>
              </a:ext>
            </a:extLst>
          </p:cNvPr>
          <p:cNvSpPr>
            <a:spLocks xmlns:a="http://schemas.openxmlformats.org/drawingml/2006/main" noGrp="1"/>
          </p:cNvSpPr>
          <p:nvPr/>
        </p:nvSpPr>
        <p:spPr>
          <a:xfrm xmlns:a="http://schemas.openxmlformats.org/drawingml/2006/main">
            <a:off x="3638550" y="276225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96969"/>
                </a:solidFill>
                <a:latin typeface="Arial"/>
                <a:ea typeface="Arial"/>
                <a:cs typeface="Arial"/>
              </a:defRPr>
            </a:defPPr>
          </a:lstStyle>
          <a:p xmlns:a="http://schemas.openxmlformats.org/drawingml/2006/main">
            <a:pPr algn="l">
              <a:defRPr sz="1575" b="0">
                <a:solidFill>
                  <a:srgbClr val="696969"/>
                </a:solidFill>
                <a:latin typeface="Arial"/>
                <a:ea typeface="Arial"/>
                <a:cs typeface="Arial"/>
              </a:defRPr>
            </a:pPr>
            <a:r>
              <a:rPr sz="1575" b="0">
                <a:solidFill>
                  <a:srgbClr val="696969"/>
                </a:solidFill>
                <a:latin typeface="Arial"/>
                <a:ea typeface="Arial"/>
                <a:cs typeface="Arial"/>
              </a:rPr>
              <a:t>raw columns</a:t>
            </a:r>
          </a:p>
        </p:txBody>
      </p:sp>
      <p:sp>
        <p:nvSpPr>
          <p:cNvPr id="10" name="shape-46">
            <a:extLst xmlns:a="http://schemas.openxmlformats.org/drawingml/2006/main">
              <a:ext uri="{FF2B5EF4-FFF2-40B4-BE49-F238E27FC236}">
                <a16:creationId xmlns:a16="http://schemas.microsoft.com/office/drawing/2014/main" id="{A6041FA2-84AD-4D37-BAB3-A38E54B16FDD}"/>
              </a:ext>
            </a:extLst>
          </p:cNvPr>
          <p:cNvSpPr>
            <a:spLocks xmlns:a="http://schemas.openxmlformats.org/drawingml/2006/main" noGrp="1"/>
          </p:cNvSpPr>
          <p:nvPr/>
        </p:nvSpPr>
        <p:spPr>
          <a:xfrm xmlns:a="http://schemas.openxmlformats.org/drawingml/2006/main">
            <a:off x="6057900" y="2095500"/>
            <a:ext cx="9525" cy="885825"/>
          </a:xfrm>
          <a:prstGeom xmlns:a="http://schemas.openxmlformats.org/drawingml/2006/main" prst="rect">
            <a:avLst/>
          </a:prstGeom>
          <a:solidFill xmlns:a="http://schemas.openxmlformats.org/drawingml/2006/main">
            <a:srgbClr val="D1CDC7"/>
          </a:solidFill>
          <a:ln xmlns:a="http://schemas.openxmlformats.org/drawingml/2006/main" w="0">
            <a:noFill/>
          </a:ln>
        </p:spPr>
      </p:sp>
      <p:sp>
        <p:nvSpPr>
          <p:cNvPr id="11" name="text-47">
            <a:extLst xmlns:a="http://schemas.openxmlformats.org/drawingml/2006/main">
              <a:ext uri="{FF2B5EF4-FFF2-40B4-BE49-F238E27FC236}">
                <a16:creationId xmlns:a16="http://schemas.microsoft.com/office/drawing/2014/main" id="{BA009F5E-C9D4-48FE-9A86-7A953CB8B80B}"/>
              </a:ext>
            </a:extLst>
          </p:cNvPr>
          <p:cNvSpPr>
            <a:spLocks xmlns:a="http://schemas.openxmlformats.org/drawingml/2006/main" noGrp="1"/>
          </p:cNvSpPr>
          <p:nvPr/>
        </p:nvSpPr>
        <p:spPr>
          <a:xfrm xmlns:a="http://schemas.openxmlformats.org/drawingml/2006/main">
            <a:off x="6381750" y="2066925"/>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41413"/>
                </a:solidFill>
                <a:latin typeface="Arial"/>
                <a:ea typeface="Arial"/>
                <a:cs typeface="Arial"/>
              </a:defRPr>
            </a:defPPr>
          </a:lstStyle>
          <a:p xmlns:a="http://schemas.openxmlformats.org/drawingml/2006/main">
            <a:pPr algn="l">
              <a:defRPr sz="3600" b="0">
                <a:solidFill>
                  <a:srgbClr val="141413"/>
                </a:solidFill>
                <a:latin typeface="Arial"/>
                <a:ea typeface="Arial"/>
                <a:cs typeface="Arial"/>
              </a:defRPr>
            </a:pPr>
            <a:r>
              <a:rPr sz="3600" b="0">
                <a:solidFill>
                  <a:srgbClr val="141413"/>
                </a:solidFill>
                <a:latin typeface="Arial"/>
                <a:ea typeface="Arial"/>
                <a:cs typeface="Arial"/>
              </a:rPr>
              <a:t>283</a:t>
            </a:r>
          </a:p>
        </p:txBody>
      </p:sp>
      <p:sp>
        <p:nvSpPr>
          <p:cNvPr id="12" name="text-48">
            <a:extLst xmlns:a="http://schemas.openxmlformats.org/drawingml/2006/main">
              <a:ext uri="{FF2B5EF4-FFF2-40B4-BE49-F238E27FC236}">
                <a16:creationId xmlns:a16="http://schemas.microsoft.com/office/drawing/2014/main" id="{41AFAC6F-0E0F-4C21-8DC2-9B352C6140CE}"/>
              </a:ext>
            </a:extLst>
          </p:cNvPr>
          <p:cNvSpPr>
            <a:spLocks xmlns:a="http://schemas.openxmlformats.org/drawingml/2006/main" noGrp="1"/>
          </p:cNvSpPr>
          <p:nvPr/>
        </p:nvSpPr>
        <p:spPr>
          <a:xfrm xmlns:a="http://schemas.openxmlformats.org/drawingml/2006/main">
            <a:off x="6381750" y="276225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96969"/>
                </a:solidFill>
                <a:latin typeface="Arial"/>
                <a:ea typeface="Arial"/>
                <a:cs typeface="Arial"/>
              </a:defRPr>
            </a:defPPr>
          </a:lstStyle>
          <a:p xmlns:a="http://schemas.openxmlformats.org/drawingml/2006/main">
            <a:pPr algn="l">
              <a:defRPr sz="1575" b="0">
                <a:solidFill>
                  <a:srgbClr val="696969"/>
                </a:solidFill>
                <a:latin typeface="Arial"/>
                <a:ea typeface="Arial"/>
                <a:cs typeface="Arial"/>
              </a:defRPr>
            </a:pPr>
            <a:r>
              <a:rPr sz="1575" b="0">
                <a:solidFill>
                  <a:srgbClr val="696969"/>
                </a:solidFill>
                <a:latin typeface="Arial"/>
                <a:ea typeface="Arial"/>
                <a:cs typeface="Arial"/>
              </a:rPr>
              <a:t>vendors</a:t>
            </a:r>
          </a:p>
        </p:txBody>
      </p:sp>
      <p:sp>
        <p:nvSpPr>
          <p:cNvPr id="13" name="shape-49">
            <a:extLst xmlns:a="http://schemas.openxmlformats.org/drawingml/2006/main">
              <a:ext uri="{FF2B5EF4-FFF2-40B4-BE49-F238E27FC236}">
                <a16:creationId xmlns:a16="http://schemas.microsoft.com/office/drawing/2014/main" id="{96C48E1A-9466-4189-9C41-9E1406CE793A}"/>
              </a:ext>
            </a:extLst>
          </p:cNvPr>
          <p:cNvSpPr>
            <a:spLocks xmlns:a="http://schemas.openxmlformats.org/drawingml/2006/main" noGrp="1"/>
          </p:cNvSpPr>
          <p:nvPr/>
        </p:nvSpPr>
        <p:spPr>
          <a:xfrm xmlns:a="http://schemas.openxmlformats.org/drawingml/2006/main">
            <a:off x="8801100" y="2095500"/>
            <a:ext cx="9525" cy="885825"/>
          </a:xfrm>
          <a:prstGeom xmlns:a="http://schemas.openxmlformats.org/drawingml/2006/main" prst="rect">
            <a:avLst/>
          </a:prstGeom>
          <a:solidFill xmlns:a="http://schemas.openxmlformats.org/drawingml/2006/main">
            <a:srgbClr val="D1CDC7"/>
          </a:solidFill>
          <a:ln xmlns:a="http://schemas.openxmlformats.org/drawingml/2006/main" w="0">
            <a:noFill/>
          </a:ln>
        </p:spPr>
      </p:sp>
      <p:sp>
        <p:nvSpPr>
          <p:cNvPr id="14" name="text-50">
            <a:extLst xmlns:a="http://schemas.openxmlformats.org/drawingml/2006/main">
              <a:ext uri="{FF2B5EF4-FFF2-40B4-BE49-F238E27FC236}">
                <a16:creationId xmlns:a16="http://schemas.microsoft.com/office/drawing/2014/main" id="{8966E970-399D-44AA-843E-88BF58157885}"/>
              </a:ext>
            </a:extLst>
          </p:cNvPr>
          <p:cNvSpPr>
            <a:spLocks xmlns:a="http://schemas.openxmlformats.org/drawingml/2006/main" noGrp="1"/>
          </p:cNvSpPr>
          <p:nvPr/>
        </p:nvSpPr>
        <p:spPr>
          <a:xfrm xmlns:a="http://schemas.openxmlformats.org/drawingml/2006/main">
            <a:off x="9124950" y="2066925"/>
            <a:ext cx="226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41413"/>
                </a:solidFill>
                <a:latin typeface="Arial"/>
                <a:ea typeface="Arial"/>
                <a:cs typeface="Arial"/>
              </a:defRPr>
            </a:defPPr>
          </a:lstStyle>
          <a:p xmlns:a="http://schemas.openxmlformats.org/drawingml/2006/main">
            <a:pPr algn="l">
              <a:defRPr sz="2850" b="0">
                <a:solidFill>
                  <a:srgbClr val="141413"/>
                </a:solidFill>
                <a:latin typeface="Arial"/>
                <a:ea typeface="Arial"/>
                <a:cs typeface="Arial"/>
              </a:defRPr>
            </a:pPr>
            <a:r>
              <a:rPr sz="2850" b="0">
                <a:solidFill>
                  <a:srgbClr val="141413"/>
                </a:solidFill>
                <a:latin typeface="Arial"/>
                <a:ea typeface="Arial"/>
                <a:cs typeface="Arial"/>
              </a:rPr>
              <a:t>2002–2026</a:t>
            </a:r>
          </a:p>
        </p:txBody>
      </p:sp>
      <p:sp>
        <p:nvSpPr>
          <p:cNvPr id="15" name="text-51">
            <a:extLst xmlns:a="http://schemas.openxmlformats.org/drawingml/2006/main">
              <a:ext uri="{FF2B5EF4-FFF2-40B4-BE49-F238E27FC236}">
                <a16:creationId xmlns:a16="http://schemas.microsoft.com/office/drawing/2014/main" id="{6E44EA3D-4FE5-466D-BF07-A148022FF5EC}"/>
              </a:ext>
            </a:extLst>
          </p:cNvPr>
          <p:cNvSpPr>
            <a:spLocks xmlns:a="http://schemas.openxmlformats.org/drawingml/2006/main" noGrp="1"/>
          </p:cNvSpPr>
          <p:nvPr/>
        </p:nvSpPr>
        <p:spPr>
          <a:xfrm xmlns:a="http://schemas.openxmlformats.org/drawingml/2006/main">
            <a:off x="9124950" y="2762250"/>
            <a:ext cx="2266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96969"/>
                </a:solidFill>
                <a:latin typeface="Arial"/>
                <a:ea typeface="Arial"/>
                <a:cs typeface="Arial"/>
              </a:defRPr>
            </a:defPPr>
          </a:lstStyle>
          <a:p xmlns:a="http://schemas.openxmlformats.org/drawingml/2006/main">
            <a:pPr algn="l">
              <a:defRPr sz="1575" b="0">
                <a:solidFill>
                  <a:srgbClr val="696969"/>
                </a:solidFill>
                <a:latin typeface="Arial"/>
                <a:ea typeface="Arial"/>
                <a:cs typeface="Arial"/>
              </a:defRPr>
            </a:pPr>
            <a:r>
              <a:rPr sz="1575" b="0">
                <a:solidFill>
                  <a:srgbClr val="696969"/>
                </a:solidFill>
                <a:latin typeface="Arial"/>
                <a:ea typeface="Arial"/>
                <a:cs typeface="Arial"/>
              </a:rPr>
              <a:t>CVE ID years</a:t>
            </a:r>
          </a:p>
        </p:txBody>
      </p:sp>
      <p:sp>
        <p:nvSpPr>
          <p:cNvPr id="16" name="text-52">
            <a:extLst xmlns:a="http://schemas.openxmlformats.org/drawingml/2006/main">
              <a:ext uri="{FF2B5EF4-FFF2-40B4-BE49-F238E27FC236}">
                <a16:creationId xmlns:a16="http://schemas.microsoft.com/office/drawing/2014/main" id="{FDFA21B1-1226-4F1F-B7F3-24590C7E78C5}"/>
              </a:ext>
            </a:extLst>
          </p:cNvPr>
          <p:cNvSpPr>
            <a:spLocks xmlns:a="http://schemas.openxmlformats.org/drawingml/2006/main" noGrp="1"/>
          </p:cNvSpPr>
          <p:nvPr/>
        </p:nvSpPr>
        <p:spPr>
          <a:xfrm xmlns:a="http://schemas.openxmlformats.org/drawingml/2006/main">
            <a:off x="609600" y="3895725"/>
            <a:ext cx="466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96969"/>
                </a:solidFill>
                <a:latin typeface="Arial"/>
                <a:ea typeface="Arial"/>
                <a:cs typeface="Arial"/>
              </a:defRPr>
            </a:defPPr>
          </a:lstStyle>
          <a:p xmlns:a="http://schemas.openxmlformats.org/drawingml/2006/main">
            <a:pPr algn="l">
              <a:defRPr sz="1800" b="0">
                <a:solidFill>
                  <a:srgbClr val="696969"/>
                </a:solidFill>
                <a:latin typeface="Arial"/>
                <a:ea typeface="Arial"/>
                <a:cs typeface="Arial"/>
              </a:defRPr>
            </a:pPr>
            <a:r>
              <a:rPr sz="1800" b="0">
                <a:solidFill>
                  <a:srgbClr val="696969"/>
                </a:solidFill>
                <a:latin typeface="Arial"/>
                <a:ea typeface="Arial"/>
                <a:cs typeface="Arial"/>
              </a:rPr>
              <a:t>Regression</a:t>
            </a:r>
          </a:p>
        </p:txBody>
      </p:sp>
      <p:sp>
        <p:nvSpPr>
          <p:cNvPr id="17" name="text-53">
            <a:extLst xmlns:a="http://schemas.openxmlformats.org/drawingml/2006/main">
              <a:ext uri="{FF2B5EF4-FFF2-40B4-BE49-F238E27FC236}">
                <a16:creationId xmlns:a16="http://schemas.microsoft.com/office/drawing/2014/main" id="{CD19768D-C0C6-4CCB-ACD0-F32B4C3B2723}"/>
              </a:ext>
            </a:extLst>
          </p:cNvPr>
          <p:cNvSpPr>
            <a:spLocks xmlns:a="http://schemas.openxmlformats.org/drawingml/2006/main" noGrp="1"/>
          </p:cNvSpPr>
          <p:nvPr/>
        </p:nvSpPr>
        <p:spPr>
          <a:xfrm xmlns:a="http://schemas.openxmlformats.org/drawingml/2006/main">
            <a:off x="609600" y="434340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1413"/>
                </a:solidFill>
                <a:latin typeface="Arial"/>
                <a:ea typeface="Arial"/>
                <a:cs typeface="Arial"/>
              </a:defRPr>
            </a:defPPr>
          </a:lstStyle>
          <a:p xmlns:a="http://schemas.openxmlformats.org/drawingml/2006/main">
            <a:pPr algn="l">
              <a:defRPr sz="2325" b="0">
                <a:solidFill>
                  <a:srgbClr val="141413"/>
                </a:solidFill>
                <a:latin typeface="Arial"/>
                <a:ea typeface="Arial"/>
                <a:cs typeface="Arial"/>
              </a:defRPr>
            </a:pPr>
            <a:r>
              <a:rPr sz="2325" b="0">
                <a:solidFill>
                  <a:srgbClr val="141413"/>
                </a:solidFill>
                <a:latin typeface="Arial"/>
                <a:ea typeface="Arial"/>
                <a:cs typeface="Arial"/>
              </a:rPr>
              <a:t>exploitation_lag_days</a:t>
            </a:r>
          </a:p>
        </p:txBody>
      </p:sp>
      <p:sp>
        <p:nvSpPr>
          <p:cNvPr id="18" name="text-54">
            <a:extLst xmlns:a="http://schemas.openxmlformats.org/drawingml/2006/main">
              <a:ext uri="{FF2B5EF4-FFF2-40B4-BE49-F238E27FC236}">
                <a16:creationId xmlns:a16="http://schemas.microsoft.com/office/drawing/2014/main" id="{716A5E14-17E4-4454-80AA-F6372833C8C0}"/>
              </a:ext>
            </a:extLst>
          </p:cNvPr>
          <p:cNvSpPr>
            <a:spLocks xmlns:a="http://schemas.openxmlformats.org/drawingml/2006/main" noGrp="1"/>
          </p:cNvSpPr>
          <p:nvPr/>
        </p:nvSpPr>
        <p:spPr>
          <a:xfrm xmlns:a="http://schemas.openxmlformats.org/drawingml/2006/main">
            <a:off x="609600" y="49530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96969"/>
                </a:solidFill>
                <a:latin typeface="Arial"/>
                <a:ea typeface="Arial"/>
                <a:cs typeface="Arial"/>
              </a:defRPr>
            </a:defPPr>
          </a:lstStyle>
          <a:p xmlns:a="http://schemas.openxmlformats.org/drawingml/2006/main">
            <a:pPr algn="l">
              <a:defRPr sz="1725" b="0">
                <a:solidFill>
                  <a:srgbClr val="696969"/>
                </a:solidFill>
                <a:latin typeface="Arial"/>
                <a:ea typeface="Arial"/>
                <a:cs typeface="Arial"/>
              </a:defRPr>
            </a:pPr>
            <a:r>
              <a:rPr sz="1725" b="0">
                <a:solidFill>
                  <a:srgbClr val="696969"/>
                </a:solidFill>
                <a:latin typeface="Arial"/>
                <a:ea typeface="Arial"/>
                <a:cs typeface="Arial"/>
              </a:rPr>
              <a:t>KEV date added − CVE publication date</a:t>
            </a:r>
          </a:p>
        </p:txBody>
      </p:sp>
      <p:sp>
        <p:nvSpPr>
          <p:cNvPr id="19" name="text-55">
            <a:extLst xmlns:a="http://schemas.openxmlformats.org/drawingml/2006/main">
              <a:ext uri="{FF2B5EF4-FFF2-40B4-BE49-F238E27FC236}">
                <a16:creationId xmlns:a16="http://schemas.microsoft.com/office/drawing/2014/main" id="{F3CB7F0C-C77F-4D8E-A48A-FD7E50A7EEDA}"/>
              </a:ext>
            </a:extLst>
          </p:cNvPr>
          <p:cNvSpPr>
            <a:spLocks xmlns:a="http://schemas.openxmlformats.org/drawingml/2006/main" noGrp="1"/>
          </p:cNvSpPr>
          <p:nvPr/>
        </p:nvSpPr>
        <p:spPr>
          <a:xfrm xmlns:a="http://schemas.openxmlformats.org/drawingml/2006/main">
            <a:off x="6591300" y="3895725"/>
            <a:ext cx="466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96969"/>
                </a:solidFill>
                <a:latin typeface="Arial"/>
                <a:ea typeface="Arial"/>
                <a:cs typeface="Arial"/>
              </a:defRPr>
            </a:defPPr>
          </a:lstStyle>
          <a:p xmlns:a="http://schemas.openxmlformats.org/drawingml/2006/main">
            <a:pPr algn="l">
              <a:defRPr sz="1800" b="0">
                <a:solidFill>
                  <a:srgbClr val="696969"/>
                </a:solidFill>
                <a:latin typeface="Arial"/>
                <a:ea typeface="Arial"/>
                <a:cs typeface="Arial"/>
              </a:defRPr>
            </a:pPr>
            <a:r>
              <a:rPr sz="1800" b="0">
                <a:solidFill>
                  <a:srgbClr val="696969"/>
                </a:solidFill>
                <a:latin typeface="Arial"/>
                <a:ea typeface="Arial"/>
                <a:cs typeface="Arial"/>
              </a:rPr>
              <a:t>Classification</a:t>
            </a:r>
          </a:p>
        </p:txBody>
      </p:sp>
      <p:sp>
        <p:nvSpPr>
          <p:cNvPr id="20" name="text-56">
            <a:extLst xmlns:a="http://schemas.openxmlformats.org/drawingml/2006/main">
              <a:ext uri="{FF2B5EF4-FFF2-40B4-BE49-F238E27FC236}">
                <a16:creationId xmlns:a16="http://schemas.microsoft.com/office/drawing/2014/main" id="{8E5863DD-0874-43C3-8D99-E6E758488BC1}"/>
              </a:ext>
            </a:extLst>
          </p:cNvPr>
          <p:cNvSpPr>
            <a:spLocks xmlns:a="http://schemas.openxmlformats.org/drawingml/2006/main" noGrp="1"/>
          </p:cNvSpPr>
          <p:nvPr/>
        </p:nvSpPr>
        <p:spPr>
          <a:xfrm xmlns:a="http://schemas.openxmlformats.org/drawingml/2006/main">
            <a:off x="6591300" y="4343400"/>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1413"/>
                </a:solidFill>
                <a:latin typeface="Arial"/>
                <a:ea typeface="Arial"/>
                <a:cs typeface="Arial"/>
              </a:defRPr>
            </a:defPPr>
          </a:lstStyle>
          <a:p xmlns:a="http://schemas.openxmlformats.org/drawingml/2006/main">
            <a:pPr algn="l">
              <a:defRPr sz="2325" b="0">
                <a:solidFill>
                  <a:srgbClr val="141413"/>
                </a:solidFill>
                <a:latin typeface="Arial"/>
                <a:ea typeface="Arial"/>
                <a:cs typeface="Arial"/>
              </a:defRPr>
            </a:pPr>
            <a:r>
              <a:rPr sz="2325" b="0">
                <a:solidFill>
                  <a:srgbClr val="141413"/>
                </a:solidFill>
                <a:latin typeface="Arial"/>
                <a:ea typeface="Arial"/>
                <a:cs typeface="Arial"/>
              </a:rPr>
              <a:t>is_ransomware</a:t>
            </a:r>
          </a:p>
        </p:txBody>
      </p:sp>
      <p:sp>
        <p:nvSpPr>
          <p:cNvPr id="21" name="shape-57">
            <a:extLst xmlns:a="http://schemas.openxmlformats.org/drawingml/2006/main">
              <a:ext uri="{FF2B5EF4-FFF2-40B4-BE49-F238E27FC236}">
                <a16:creationId xmlns:a16="http://schemas.microsoft.com/office/drawing/2014/main" id="{7979DDBD-57FB-42BF-B615-C4495BB2102C}"/>
              </a:ext>
            </a:extLst>
          </p:cNvPr>
          <p:cNvSpPr>
            <a:spLocks xmlns:a="http://schemas.openxmlformats.org/drawingml/2006/main" noGrp="1"/>
          </p:cNvSpPr>
          <p:nvPr/>
        </p:nvSpPr>
        <p:spPr>
          <a:xfrm xmlns:a="http://schemas.openxmlformats.org/drawingml/2006/main">
            <a:off x="6591300" y="4953000"/>
            <a:ext cx="4667250" cy="571500"/>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22" name="text-58">
            <a:extLst xmlns:a="http://schemas.openxmlformats.org/drawingml/2006/main">
              <a:ext uri="{FF2B5EF4-FFF2-40B4-BE49-F238E27FC236}">
                <a16:creationId xmlns:a16="http://schemas.microsoft.com/office/drawing/2014/main" id="{BB73E03B-AB81-4D07-A795-5C961A115B92}"/>
              </a:ext>
            </a:extLst>
          </p:cNvPr>
          <p:cNvSpPr>
            <a:spLocks xmlns:a="http://schemas.openxmlformats.org/drawingml/2006/main" noGrp="1"/>
          </p:cNvSpPr>
          <p:nvPr/>
        </p:nvSpPr>
        <p:spPr>
          <a:xfrm xmlns:a="http://schemas.openxmlformats.org/drawingml/2006/main">
            <a:off x="6781800" y="5105114"/>
            <a:ext cx="428625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F3F0EE"/>
                </a:solidFill>
                <a:latin typeface="Arial"/>
                <a:ea typeface="Arial"/>
                <a:cs typeface="Arial"/>
              </a:defRPr>
            </a:defPPr>
          </a:lstStyle>
          <a:p xmlns:a="http://schemas.openxmlformats.org/drawingml/2006/main">
            <a:pPr algn="ctr">
              <a:defRPr sz="1725" b="0">
                <a:solidFill>
                  <a:srgbClr val="F3F0EE"/>
                </a:solidFill>
                <a:latin typeface="Arial"/>
                <a:ea typeface="Arial"/>
                <a:cs typeface="Arial"/>
              </a:defRPr>
            </a:pPr>
            <a:r>
              <a:rPr sz="1725" b="0">
                <a:solidFill>
                  <a:srgbClr val="F3F0EE"/>
                </a:solidFill>
                <a:latin typeface="Arial"/>
                <a:ea typeface="Arial"/>
                <a:cs typeface="Arial"/>
              </a:rPr>
              <a:t>20.8% Known ransomware links</a:t>
            </a:r>
          </a:p>
        </p:txBody>
      </p:sp>
      <p:sp>
        <p:nvSpPr>
          <p:cNvPr id="23" name="text-59">
            <a:extLst xmlns:a="http://schemas.openxmlformats.org/drawingml/2006/main">
              <a:ext uri="{FF2B5EF4-FFF2-40B4-BE49-F238E27FC236}">
                <a16:creationId xmlns:a16="http://schemas.microsoft.com/office/drawing/2014/main" id="{0A77CF6C-0CEB-4F20-8829-4C373A7949CB}"/>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Snapshot collected 03 Sep 2026. CVE ID year is not the publication-date range.</a:t>
            </a:r>
          </a:p>
        </p:txBody>
      </p:sp>
    </p:spTree>
    <p:extLst>
      <p:ext uri="{BB962C8B-B14F-4D97-AF65-F5344CB8AC3E}">
        <p14:creationId xmlns:p14="http://schemas.microsoft.com/office/powerpoint/2010/main" val="2025449039"/>
      </p:ext>
    </p:extLst>
  </p:cSld>
</p:sld>
</file>

<file path=ppt/slides/slide5.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26" name="text-60">
            <a:extLst xmlns:a="http://schemas.openxmlformats.org/drawingml/2006/main">
              <a:ext uri="{FF2B5EF4-FFF2-40B4-BE49-F238E27FC236}">
                <a16:creationId xmlns:a16="http://schemas.microsoft.com/office/drawing/2014/main" id="{C802E4D4-7BE3-4466-BE1E-E769AAF863B7}"/>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Cleaning and preprocessing</a:t>
            </a:r>
          </a:p>
        </p:txBody>
      </p:sp>
      <p:sp>
        <p:nvSpPr>
          <p:cNvPr id="2" name="text-61">
            <a:extLst xmlns:a="http://schemas.openxmlformats.org/drawingml/2006/main">
              <a:ext uri="{FF2B5EF4-FFF2-40B4-BE49-F238E27FC236}">
                <a16:creationId xmlns:a16="http://schemas.microsoft.com/office/drawing/2014/main" id="{F9EDD1A2-4B57-4F22-85E6-846340535F6A}"/>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Retain uncertainty; remove explicit target-derived fields</a:t>
            </a:r>
          </a:p>
        </p:txBody>
      </p:sp>
      <p:sp>
        <p:nvSpPr>
          <p:cNvPr id="3" name="text-62">
            <a:extLst xmlns:a="http://schemas.openxmlformats.org/drawingml/2006/main">
              <a:ext uri="{FF2B5EF4-FFF2-40B4-BE49-F238E27FC236}">
                <a16:creationId xmlns:a16="http://schemas.microsoft.com/office/drawing/2014/main" id="{A1CA9F0C-52BE-4A65-8D0B-2442EC4B03E7}"/>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05</a:t>
            </a:r>
          </a:p>
        </p:txBody>
      </p:sp>
      <p:sp>
        <p:nvSpPr>
          <p:cNvPr id="4" name="shape-63">
            <a:extLst xmlns:a="http://schemas.openxmlformats.org/drawingml/2006/main">
              <a:ext uri="{FF2B5EF4-FFF2-40B4-BE49-F238E27FC236}">
                <a16:creationId xmlns:a16="http://schemas.microsoft.com/office/drawing/2014/main" id="{12541A2C-E352-473B-B603-28B35A89CD06}"/>
              </a:ext>
            </a:extLst>
          </p:cNvPr>
          <p:cNvSpPr>
            <a:spLocks xmlns:a="http://schemas.openxmlformats.org/drawingml/2006/main" noGrp="1"/>
          </p:cNvSpPr>
          <p:nvPr/>
        </p:nvSpPr>
        <p:spPr>
          <a:xfrm xmlns:a="http://schemas.openxmlformats.org/drawingml/2006/main">
            <a:off x="609600" y="1981200"/>
            <a:ext cx="2514600" cy="2428875"/>
          </a:xfrm>
          <a:prstGeom xmlns:a="http://schemas.openxmlformats.org/drawingml/2006/main" prst="roundRect">
            <a:avLst>
              <a:gd name="adj" fmla="val 15686"/>
            </a:avLst>
          </a:prstGeom>
          <a:solidFill xmlns:a="http://schemas.openxmlformats.org/drawingml/2006/main">
            <a:srgbClr val="FCFBFA"/>
          </a:solidFill>
          <a:ln xmlns:a="http://schemas.openxmlformats.org/drawingml/2006/main" w="0">
            <a:noFill/>
          </a:ln>
        </p:spPr>
      </p:sp>
      <p:sp>
        <p:nvSpPr>
          <p:cNvPr id="5" name="text-64">
            <a:extLst xmlns:a="http://schemas.openxmlformats.org/drawingml/2006/main">
              <a:ext uri="{FF2B5EF4-FFF2-40B4-BE49-F238E27FC236}">
                <a16:creationId xmlns:a16="http://schemas.microsoft.com/office/drawing/2014/main" id="{D38D3FAB-F45A-41DA-8C4E-88E67718B34B}"/>
              </a:ext>
            </a:extLst>
          </p:cNvPr>
          <p:cNvSpPr>
            <a:spLocks xmlns:a="http://schemas.openxmlformats.org/drawingml/2006/main" noGrp="1"/>
          </p:cNvSpPr>
          <p:nvPr/>
        </p:nvSpPr>
        <p:spPr>
          <a:xfrm xmlns:a="http://schemas.openxmlformats.org/drawingml/2006/main">
            <a:off x="838200" y="2247900"/>
            <a:ext cx="205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Missing values</a:t>
            </a:r>
          </a:p>
        </p:txBody>
      </p:sp>
      <p:sp>
        <p:nvSpPr>
          <p:cNvPr id="6" name="text-65">
            <a:extLst xmlns:a="http://schemas.openxmlformats.org/drawingml/2006/main">
              <a:ext uri="{FF2B5EF4-FFF2-40B4-BE49-F238E27FC236}">
                <a16:creationId xmlns:a16="http://schemas.microsoft.com/office/drawing/2014/main" id="{69794DEE-1254-45AB-B4A2-22108DD2951B}"/>
              </a:ext>
            </a:extLst>
          </p:cNvPr>
          <p:cNvSpPr>
            <a:spLocks xmlns:a="http://schemas.openxmlformats.org/drawingml/2006/main" noGrp="1"/>
          </p:cNvSpPr>
          <p:nvPr/>
        </p:nvSpPr>
        <p:spPr>
          <a:xfrm xmlns:a="http://schemas.openxmlformats.org/drawingml/2006/main">
            <a:off x="838200" y="3048000"/>
            <a:ext cx="2057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96969"/>
                </a:solidFill>
                <a:latin typeface="Arial"/>
                <a:ea typeface="Arial"/>
                <a:cs typeface="Arial"/>
              </a:defRPr>
            </a:defPPr>
          </a:lstStyle>
          <a:p xmlns:a="http://schemas.openxmlformats.org/drawingml/2006/main">
            <a:pPr algn="l">
              <a:defRPr sz="1650" b="0">
                <a:solidFill>
                  <a:srgbClr val="696969"/>
                </a:solidFill>
                <a:latin typeface="Arial"/>
                <a:ea typeface="Arial"/>
                <a:cs typeface="Arial"/>
              </a:defRPr>
            </a:pPr>
            <a:r>
              <a:rPr sz="1650" b="0">
                <a:solidFill>
                  <a:srgbClr val="696969"/>
                </a:solidFill>
                <a:latin typeface="Arial"/>
                <a:ea typeface="Arial"/>
                <a:cs typeface="Arial"/>
              </a:rPr>
              <a:t>18.7% of CVSS vectors absent</a:t>
            </a:r>
          </a:p>
        </p:txBody>
      </p:sp>
      <p:sp>
        <p:nvSpPr>
          <p:cNvPr id="7" name="text-66">
            <a:extLst xmlns:a="http://schemas.openxmlformats.org/drawingml/2006/main">
              <a:ext uri="{FF2B5EF4-FFF2-40B4-BE49-F238E27FC236}">
                <a16:creationId xmlns:a16="http://schemas.microsoft.com/office/drawing/2014/main" id="{8EA50B00-38A6-49B4-ACC4-38C9AA9F81D3}"/>
              </a:ext>
            </a:extLst>
          </p:cNvPr>
          <p:cNvSpPr>
            <a:spLocks xmlns:a="http://schemas.openxmlformats.org/drawingml/2006/main" noGrp="1"/>
          </p:cNvSpPr>
          <p:nvPr/>
        </p:nvSpPr>
        <p:spPr>
          <a:xfrm xmlns:a="http://schemas.openxmlformats.org/drawingml/2006/main">
            <a:off x="838200" y="3943350"/>
            <a:ext cx="2057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41413"/>
                </a:solidFill>
                <a:latin typeface="Arial"/>
                <a:ea typeface="Arial"/>
                <a:cs typeface="Arial"/>
              </a:defRPr>
            </a:defPPr>
          </a:lstStyle>
          <a:p xmlns:a="http://schemas.openxmlformats.org/drawingml/2006/main">
            <a:pPr algn="l">
              <a:defRPr sz="1500" b="0">
                <a:solidFill>
                  <a:srgbClr val="141413"/>
                </a:solidFill>
                <a:latin typeface="Arial"/>
                <a:ea typeface="Arial"/>
                <a:cs typeface="Arial"/>
              </a:defRPr>
            </a:pPr>
            <a:r>
              <a:rPr sz="1500" b="0">
                <a:solidFill>
                  <a:srgbClr val="141413"/>
                </a:solidFill>
                <a:latin typeface="Arial"/>
                <a:ea typeface="Arial"/>
                <a:cs typeface="Arial"/>
              </a:rPr>
              <a:t>Keep NOT_ASSESSED</a:t>
            </a:r>
          </a:p>
        </p:txBody>
      </p:sp>
      <p:sp>
        <p:nvSpPr>
          <p:cNvPr id="8" name="text-67">
            <a:extLst xmlns:a="http://schemas.openxmlformats.org/drawingml/2006/main">
              <a:ext uri="{FF2B5EF4-FFF2-40B4-BE49-F238E27FC236}">
                <a16:creationId xmlns:a16="http://schemas.microsoft.com/office/drawing/2014/main" id="{CC74C89E-6E08-4761-86C1-D4E8B87ECFE4}"/>
              </a:ext>
            </a:extLst>
          </p:cNvPr>
          <p:cNvSpPr>
            <a:spLocks xmlns:a="http://schemas.openxmlformats.org/drawingml/2006/main" noGrp="1"/>
          </p:cNvSpPr>
          <p:nvPr/>
        </p:nvSpPr>
        <p:spPr>
          <a:xfrm xmlns:a="http://schemas.openxmlformats.org/drawingml/2006/main">
            <a:off x="3181350" y="2971800"/>
            <a:ext cx="23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96969"/>
                </a:solidFill>
                <a:latin typeface="Arial"/>
                <a:ea typeface="Arial"/>
                <a:cs typeface="Arial"/>
              </a:defRPr>
            </a:defPPr>
          </a:lstStyle>
          <a:p xmlns:a="http://schemas.openxmlformats.org/drawingml/2006/main">
            <a:pPr algn="l">
              <a:defRPr sz="2175" b="0">
                <a:solidFill>
                  <a:srgbClr val="696969"/>
                </a:solidFill>
                <a:latin typeface="Arial"/>
                <a:ea typeface="Arial"/>
                <a:cs typeface="Arial"/>
              </a:defRPr>
            </a:pPr>
            <a:r>
              <a:rPr sz="2175" b="0">
                <a:solidFill>
                  <a:srgbClr val="696969"/>
                </a:solidFill>
                <a:latin typeface="Arial"/>
                <a:ea typeface="Arial"/>
                <a:cs typeface="Arial"/>
              </a:rPr>
              <a:t>→</a:t>
            </a:r>
          </a:p>
        </p:txBody>
      </p:sp>
      <p:sp>
        <p:nvSpPr>
          <p:cNvPr id="9" name="shape-68">
            <a:extLst xmlns:a="http://schemas.openxmlformats.org/drawingml/2006/main">
              <a:ext uri="{FF2B5EF4-FFF2-40B4-BE49-F238E27FC236}">
                <a16:creationId xmlns:a16="http://schemas.microsoft.com/office/drawing/2014/main" id="{6E9BAE18-BB5A-42A6-9F68-C3733886EBE1}"/>
              </a:ext>
            </a:extLst>
          </p:cNvPr>
          <p:cNvSpPr>
            <a:spLocks xmlns:a="http://schemas.openxmlformats.org/drawingml/2006/main" noGrp="1"/>
          </p:cNvSpPr>
          <p:nvPr/>
        </p:nvSpPr>
        <p:spPr>
          <a:xfrm xmlns:a="http://schemas.openxmlformats.org/drawingml/2006/main">
            <a:off x="3429000" y="1981200"/>
            <a:ext cx="2514600" cy="2428875"/>
          </a:xfrm>
          <a:prstGeom xmlns:a="http://schemas.openxmlformats.org/drawingml/2006/main" prst="roundRect">
            <a:avLst>
              <a:gd name="adj" fmla="val 15686"/>
            </a:avLst>
          </a:prstGeom>
          <a:solidFill xmlns:a="http://schemas.openxmlformats.org/drawingml/2006/main">
            <a:srgbClr val="FCFBFA"/>
          </a:solidFill>
          <a:ln xmlns:a="http://schemas.openxmlformats.org/drawingml/2006/main" w="0">
            <a:noFill/>
          </a:ln>
        </p:spPr>
      </p:sp>
      <p:sp>
        <p:nvSpPr>
          <p:cNvPr id="10" name="text-69">
            <a:extLst xmlns:a="http://schemas.openxmlformats.org/drawingml/2006/main">
              <a:ext uri="{FF2B5EF4-FFF2-40B4-BE49-F238E27FC236}">
                <a16:creationId xmlns:a16="http://schemas.microsoft.com/office/drawing/2014/main" id="{A6F92B0B-D9B9-4EF8-8C64-C6C627AF0841}"/>
              </a:ext>
            </a:extLst>
          </p:cNvPr>
          <p:cNvSpPr>
            <a:spLocks xmlns:a="http://schemas.openxmlformats.org/drawingml/2006/main" noGrp="1"/>
          </p:cNvSpPr>
          <p:nvPr/>
        </p:nvSpPr>
        <p:spPr>
          <a:xfrm xmlns:a="http://schemas.openxmlformats.org/drawingml/2006/main">
            <a:off x="3657600" y="2247900"/>
            <a:ext cx="205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Rare levels</a:t>
            </a:r>
          </a:p>
        </p:txBody>
      </p:sp>
      <p:sp>
        <p:nvSpPr>
          <p:cNvPr id="11" name="text-70">
            <a:extLst xmlns:a="http://schemas.openxmlformats.org/drawingml/2006/main">
              <a:ext uri="{FF2B5EF4-FFF2-40B4-BE49-F238E27FC236}">
                <a16:creationId xmlns:a16="http://schemas.microsoft.com/office/drawing/2014/main" id="{1014EE1D-1D98-43DB-9FF7-AA1CDB208CF3}"/>
              </a:ext>
            </a:extLst>
          </p:cNvPr>
          <p:cNvSpPr>
            <a:spLocks xmlns:a="http://schemas.openxmlformats.org/drawingml/2006/main" noGrp="1"/>
          </p:cNvSpPr>
          <p:nvPr/>
        </p:nvSpPr>
        <p:spPr>
          <a:xfrm xmlns:a="http://schemas.openxmlformats.org/drawingml/2006/main">
            <a:off x="3657600" y="3048000"/>
            <a:ext cx="2057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96969"/>
                </a:solidFill>
                <a:latin typeface="Arial"/>
                <a:ea typeface="Arial"/>
                <a:cs typeface="Arial"/>
              </a:defRPr>
            </a:defPPr>
          </a:lstStyle>
          <a:p xmlns:a="http://schemas.openxmlformats.org/drawingml/2006/main">
            <a:pPr algn="l">
              <a:defRPr sz="1650" b="0">
                <a:solidFill>
                  <a:srgbClr val="696969"/>
                </a:solidFill>
                <a:latin typeface="Arial"/>
                <a:ea typeface="Arial"/>
                <a:cs typeface="Arial"/>
              </a:defRPr>
            </a:pPr>
            <a:r>
              <a:rPr sz="1650" b="0">
                <a:solidFill>
                  <a:srgbClr val="696969"/>
                </a:solidFill>
                <a:latin typeface="Arial"/>
                <a:ea typeface="Arial"/>
                <a:cs typeface="Arial"/>
              </a:rPr>
              <a:t>Low-frequency categories</a:t>
            </a:r>
          </a:p>
        </p:txBody>
      </p:sp>
      <p:sp>
        <p:nvSpPr>
          <p:cNvPr id="12" name="text-71">
            <a:extLst xmlns:a="http://schemas.openxmlformats.org/drawingml/2006/main">
              <a:ext uri="{FF2B5EF4-FFF2-40B4-BE49-F238E27FC236}">
                <a16:creationId xmlns:a16="http://schemas.microsoft.com/office/drawing/2014/main" id="{2D3F36BC-F038-440E-91FB-8FFED2468864}"/>
              </a:ext>
            </a:extLst>
          </p:cNvPr>
          <p:cNvSpPr>
            <a:spLocks xmlns:a="http://schemas.openxmlformats.org/drawingml/2006/main" noGrp="1"/>
          </p:cNvSpPr>
          <p:nvPr/>
        </p:nvSpPr>
        <p:spPr>
          <a:xfrm xmlns:a="http://schemas.openxmlformats.org/drawingml/2006/main">
            <a:off x="3657600" y="3943350"/>
            <a:ext cx="2057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41413"/>
                </a:solidFill>
                <a:latin typeface="Arial"/>
                <a:ea typeface="Arial"/>
                <a:cs typeface="Arial"/>
              </a:defRPr>
            </a:defPPr>
          </a:lstStyle>
          <a:p xmlns:a="http://schemas.openxmlformats.org/drawingml/2006/main">
            <a:pPr algn="l">
              <a:defRPr sz="1500" b="0">
                <a:solidFill>
                  <a:srgbClr val="141413"/>
                </a:solidFill>
                <a:latin typeface="Arial"/>
                <a:ea typeface="Arial"/>
                <a:cs typeface="Arial"/>
              </a:defRPr>
            </a:pPr>
            <a:r>
              <a:rPr sz="1500" b="0">
                <a:solidFill>
                  <a:srgbClr val="141413"/>
                </a:solidFill>
                <a:latin typeface="Arial"/>
                <a:ea typeface="Arial"/>
                <a:cs typeface="Arial"/>
              </a:rPr>
              <a:t>Collapse to OTHER</a:t>
            </a:r>
          </a:p>
        </p:txBody>
      </p:sp>
      <p:sp>
        <p:nvSpPr>
          <p:cNvPr id="13" name="text-72">
            <a:extLst xmlns:a="http://schemas.openxmlformats.org/drawingml/2006/main">
              <a:ext uri="{FF2B5EF4-FFF2-40B4-BE49-F238E27FC236}">
                <a16:creationId xmlns:a16="http://schemas.microsoft.com/office/drawing/2014/main" id="{DB332ED8-2578-4E01-B6F4-993F050F57B1}"/>
              </a:ext>
            </a:extLst>
          </p:cNvPr>
          <p:cNvSpPr>
            <a:spLocks xmlns:a="http://schemas.openxmlformats.org/drawingml/2006/main" noGrp="1"/>
          </p:cNvSpPr>
          <p:nvPr/>
        </p:nvSpPr>
        <p:spPr>
          <a:xfrm xmlns:a="http://schemas.openxmlformats.org/drawingml/2006/main">
            <a:off x="6000750" y="2971800"/>
            <a:ext cx="23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96969"/>
                </a:solidFill>
                <a:latin typeface="Arial"/>
                <a:ea typeface="Arial"/>
                <a:cs typeface="Arial"/>
              </a:defRPr>
            </a:defPPr>
          </a:lstStyle>
          <a:p xmlns:a="http://schemas.openxmlformats.org/drawingml/2006/main">
            <a:pPr algn="l">
              <a:defRPr sz="2175" b="0">
                <a:solidFill>
                  <a:srgbClr val="696969"/>
                </a:solidFill>
                <a:latin typeface="Arial"/>
                <a:ea typeface="Arial"/>
                <a:cs typeface="Arial"/>
              </a:defRPr>
            </a:pPr>
            <a:r>
              <a:rPr sz="2175" b="0">
                <a:solidFill>
                  <a:srgbClr val="696969"/>
                </a:solidFill>
                <a:latin typeface="Arial"/>
                <a:ea typeface="Arial"/>
                <a:cs typeface="Arial"/>
              </a:rPr>
              <a:t>→</a:t>
            </a:r>
          </a:p>
        </p:txBody>
      </p:sp>
      <p:sp>
        <p:nvSpPr>
          <p:cNvPr id="14" name="shape-73">
            <a:extLst xmlns:a="http://schemas.openxmlformats.org/drawingml/2006/main">
              <a:ext uri="{FF2B5EF4-FFF2-40B4-BE49-F238E27FC236}">
                <a16:creationId xmlns:a16="http://schemas.microsoft.com/office/drawing/2014/main" id="{23712EEA-5B86-4513-909F-8582549598D2}"/>
              </a:ext>
            </a:extLst>
          </p:cNvPr>
          <p:cNvSpPr>
            <a:spLocks xmlns:a="http://schemas.openxmlformats.org/drawingml/2006/main" noGrp="1"/>
          </p:cNvSpPr>
          <p:nvPr/>
        </p:nvSpPr>
        <p:spPr>
          <a:xfrm xmlns:a="http://schemas.openxmlformats.org/drawingml/2006/main">
            <a:off x="6248400" y="1981200"/>
            <a:ext cx="2514600" cy="2428875"/>
          </a:xfrm>
          <a:prstGeom xmlns:a="http://schemas.openxmlformats.org/drawingml/2006/main" prst="roundRect">
            <a:avLst>
              <a:gd name="adj" fmla="val 15686"/>
            </a:avLst>
          </a:prstGeom>
          <a:solidFill xmlns:a="http://schemas.openxmlformats.org/drawingml/2006/main">
            <a:srgbClr val="FCFBFA"/>
          </a:solidFill>
          <a:ln xmlns:a="http://schemas.openxmlformats.org/drawingml/2006/main" w="0">
            <a:noFill/>
          </a:ln>
        </p:spPr>
      </p:sp>
      <p:sp>
        <p:nvSpPr>
          <p:cNvPr id="15" name="text-74">
            <a:extLst xmlns:a="http://schemas.openxmlformats.org/drawingml/2006/main">
              <a:ext uri="{FF2B5EF4-FFF2-40B4-BE49-F238E27FC236}">
                <a16:creationId xmlns:a16="http://schemas.microsoft.com/office/drawing/2014/main" id="{9BBF622B-261F-4B41-9FB4-EC1E3AF4B938}"/>
              </a:ext>
            </a:extLst>
          </p:cNvPr>
          <p:cNvSpPr>
            <a:spLocks xmlns:a="http://schemas.openxmlformats.org/drawingml/2006/main" noGrp="1"/>
          </p:cNvSpPr>
          <p:nvPr/>
        </p:nvSpPr>
        <p:spPr>
          <a:xfrm xmlns:a="http://schemas.openxmlformats.org/drawingml/2006/main">
            <a:off x="6477000" y="2247900"/>
            <a:ext cx="205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Feature set</a:t>
            </a:r>
          </a:p>
        </p:txBody>
      </p:sp>
      <p:sp>
        <p:nvSpPr>
          <p:cNvPr id="16" name="text-75">
            <a:extLst xmlns:a="http://schemas.openxmlformats.org/drawingml/2006/main">
              <a:ext uri="{FF2B5EF4-FFF2-40B4-BE49-F238E27FC236}">
                <a16:creationId xmlns:a16="http://schemas.microsoft.com/office/drawing/2014/main" id="{D965206C-5BCC-41FE-8577-CC50D6B8D66F}"/>
              </a:ext>
            </a:extLst>
          </p:cNvPr>
          <p:cNvSpPr>
            <a:spLocks xmlns:a="http://schemas.openxmlformats.org/drawingml/2006/main" noGrp="1"/>
          </p:cNvSpPr>
          <p:nvPr/>
        </p:nvSpPr>
        <p:spPr>
          <a:xfrm xmlns:a="http://schemas.openxmlformats.org/drawingml/2006/main">
            <a:off x="6477000" y="3048000"/>
            <a:ext cx="2057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96969"/>
                </a:solidFill>
                <a:latin typeface="Arial"/>
                <a:ea typeface="Arial"/>
                <a:cs typeface="Arial"/>
              </a:defRPr>
            </a:defPPr>
          </a:lstStyle>
          <a:p xmlns:a="http://schemas.openxmlformats.org/drawingml/2006/main">
            <a:pPr algn="l">
              <a:defRPr sz="1650" b="0">
                <a:solidFill>
                  <a:srgbClr val="696969"/>
                </a:solidFill>
                <a:latin typeface="Arial"/>
                <a:ea typeface="Arial"/>
                <a:cs typeface="Arial"/>
              </a:defRPr>
            </a:pPr>
            <a:r>
              <a:rPr sz="1650" b="0">
                <a:solidFill>
                  <a:srgbClr val="696969"/>
                </a:solidFill>
                <a:latin typeface="Arial"/>
                <a:ea typeface="Arial"/>
                <a:cs typeface="Arial"/>
              </a:rPr>
              <a:t>Direct leakage fields excluded</a:t>
            </a:r>
          </a:p>
        </p:txBody>
      </p:sp>
      <p:sp>
        <p:nvSpPr>
          <p:cNvPr id="17" name="text-76">
            <a:extLst xmlns:a="http://schemas.openxmlformats.org/drawingml/2006/main">
              <a:ext uri="{FF2B5EF4-FFF2-40B4-BE49-F238E27FC236}">
                <a16:creationId xmlns:a16="http://schemas.microsoft.com/office/drawing/2014/main" id="{FA657690-22C7-403B-A248-C208FA60EAFC}"/>
              </a:ext>
            </a:extLst>
          </p:cNvPr>
          <p:cNvSpPr>
            <a:spLocks xmlns:a="http://schemas.openxmlformats.org/drawingml/2006/main" noGrp="1"/>
          </p:cNvSpPr>
          <p:nvPr/>
        </p:nvSpPr>
        <p:spPr>
          <a:xfrm xmlns:a="http://schemas.openxmlformats.org/drawingml/2006/main">
            <a:off x="6477000" y="3943350"/>
            <a:ext cx="2057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41413"/>
                </a:solidFill>
                <a:latin typeface="Arial"/>
                <a:ea typeface="Arial"/>
                <a:cs typeface="Arial"/>
              </a:defRPr>
            </a:defPPr>
          </a:lstStyle>
          <a:p xmlns:a="http://schemas.openxmlformats.org/drawingml/2006/main">
            <a:pPr algn="l">
              <a:defRPr sz="1500" b="0">
                <a:solidFill>
                  <a:srgbClr val="141413"/>
                </a:solidFill>
                <a:latin typeface="Arial"/>
                <a:ea typeface="Arial"/>
                <a:cs typeface="Arial"/>
              </a:defRPr>
            </a:pPr>
            <a:r>
              <a:rPr sz="1500" b="0">
                <a:solidFill>
                  <a:srgbClr val="141413"/>
                </a:solidFill>
                <a:latin typeface="Arial"/>
                <a:ea typeface="Arial"/>
                <a:cs typeface="Arial"/>
              </a:rPr>
              <a:t>64 encoded features</a:t>
            </a:r>
          </a:p>
        </p:txBody>
      </p:sp>
      <p:sp>
        <p:nvSpPr>
          <p:cNvPr id="18" name="text-77">
            <a:extLst xmlns:a="http://schemas.openxmlformats.org/drawingml/2006/main">
              <a:ext uri="{FF2B5EF4-FFF2-40B4-BE49-F238E27FC236}">
                <a16:creationId xmlns:a16="http://schemas.microsoft.com/office/drawing/2014/main" id="{78F354FB-0F3A-4A03-9462-EEAD73489E4D}"/>
              </a:ext>
            </a:extLst>
          </p:cNvPr>
          <p:cNvSpPr>
            <a:spLocks xmlns:a="http://schemas.openxmlformats.org/drawingml/2006/main" noGrp="1"/>
          </p:cNvSpPr>
          <p:nvPr/>
        </p:nvSpPr>
        <p:spPr>
          <a:xfrm xmlns:a="http://schemas.openxmlformats.org/drawingml/2006/main">
            <a:off x="8820150" y="2971800"/>
            <a:ext cx="23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96969"/>
                </a:solidFill>
                <a:latin typeface="Arial"/>
                <a:ea typeface="Arial"/>
                <a:cs typeface="Arial"/>
              </a:defRPr>
            </a:defPPr>
          </a:lstStyle>
          <a:p xmlns:a="http://schemas.openxmlformats.org/drawingml/2006/main">
            <a:pPr algn="l">
              <a:defRPr sz="2175" b="0">
                <a:solidFill>
                  <a:srgbClr val="696969"/>
                </a:solidFill>
                <a:latin typeface="Arial"/>
                <a:ea typeface="Arial"/>
                <a:cs typeface="Arial"/>
              </a:defRPr>
            </a:pPr>
            <a:r>
              <a:rPr sz="2175" b="0">
                <a:solidFill>
                  <a:srgbClr val="696969"/>
                </a:solidFill>
                <a:latin typeface="Arial"/>
                <a:ea typeface="Arial"/>
                <a:cs typeface="Arial"/>
              </a:rPr>
              <a:t>→</a:t>
            </a:r>
          </a:p>
        </p:txBody>
      </p:sp>
      <p:sp>
        <p:nvSpPr>
          <p:cNvPr id="19" name="shape-78">
            <a:extLst xmlns:a="http://schemas.openxmlformats.org/drawingml/2006/main">
              <a:ext uri="{FF2B5EF4-FFF2-40B4-BE49-F238E27FC236}">
                <a16:creationId xmlns:a16="http://schemas.microsoft.com/office/drawing/2014/main" id="{B626D44D-6073-44ED-A079-4DD7B326C1F1}"/>
              </a:ext>
            </a:extLst>
          </p:cNvPr>
          <p:cNvSpPr>
            <a:spLocks xmlns:a="http://schemas.openxmlformats.org/drawingml/2006/main" noGrp="1"/>
          </p:cNvSpPr>
          <p:nvPr/>
        </p:nvSpPr>
        <p:spPr>
          <a:xfrm xmlns:a="http://schemas.openxmlformats.org/drawingml/2006/main">
            <a:off x="9067800" y="1981200"/>
            <a:ext cx="2514600" cy="2428875"/>
          </a:xfrm>
          <a:prstGeom xmlns:a="http://schemas.openxmlformats.org/drawingml/2006/main" prst="roundRect">
            <a:avLst>
              <a:gd name="adj" fmla="val 15686"/>
            </a:avLst>
          </a:prstGeom>
          <a:solidFill xmlns:a="http://schemas.openxmlformats.org/drawingml/2006/main">
            <a:srgbClr val="FCFBFA"/>
          </a:solidFill>
          <a:ln xmlns:a="http://schemas.openxmlformats.org/drawingml/2006/main" w="0">
            <a:noFill/>
          </a:ln>
        </p:spPr>
      </p:sp>
      <p:sp>
        <p:nvSpPr>
          <p:cNvPr id="20" name="text-79">
            <a:extLst xmlns:a="http://schemas.openxmlformats.org/drawingml/2006/main">
              <a:ext uri="{FF2B5EF4-FFF2-40B4-BE49-F238E27FC236}">
                <a16:creationId xmlns:a16="http://schemas.microsoft.com/office/drawing/2014/main" id="{64ADF168-FA39-4DFF-ABA4-A226108C6F93}"/>
              </a:ext>
            </a:extLst>
          </p:cNvPr>
          <p:cNvSpPr>
            <a:spLocks xmlns:a="http://schemas.openxmlformats.org/drawingml/2006/main" noGrp="1"/>
          </p:cNvSpPr>
          <p:nvPr/>
        </p:nvSpPr>
        <p:spPr>
          <a:xfrm xmlns:a="http://schemas.openxmlformats.org/drawingml/2006/main">
            <a:off x="9296400" y="2247900"/>
            <a:ext cx="205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Evaluation</a:t>
            </a:r>
          </a:p>
        </p:txBody>
      </p:sp>
      <p:sp>
        <p:nvSpPr>
          <p:cNvPr id="21" name="text-80">
            <a:extLst xmlns:a="http://schemas.openxmlformats.org/drawingml/2006/main">
              <a:ext uri="{FF2B5EF4-FFF2-40B4-BE49-F238E27FC236}">
                <a16:creationId xmlns:a16="http://schemas.microsoft.com/office/drawing/2014/main" id="{E894FE10-BD89-49D5-B4C8-3B46EFF12278}"/>
              </a:ext>
            </a:extLst>
          </p:cNvPr>
          <p:cNvSpPr>
            <a:spLocks xmlns:a="http://schemas.openxmlformats.org/drawingml/2006/main" noGrp="1"/>
          </p:cNvSpPr>
          <p:nvPr/>
        </p:nvSpPr>
        <p:spPr>
          <a:xfrm xmlns:a="http://schemas.openxmlformats.org/drawingml/2006/main">
            <a:off x="9296400" y="3048000"/>
            <a:ext cx="2057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96969"/>
                </a:solidFill>
                <a:latin typeface="Arial"/>
                <a:ea typeface="Arial"/>
                <a:cs typeface="Arial"/>
              </a:defRPr>
            </a:defPPr>
          </a:lstStyle>
          <a:p xmlns:a="http://schemas.openxmlformats.org/drawingml/2006/main">
            <a:pPr algn="l">
              <a:defRPr sz="1650" b="0">
                <a:solidFill>
                  <a:srgbClr val="696969"/>
                </a:solidFill>
                <a:latin typeface="Arial"/>
                <a:ea typeface="Arial"/>
                <a:cs typeface="Arial"/>
              </a:defRPr>
            </a:pPr>
            <a:r>
              <a:rPr sz="1650" b="0">
                <a:solidFill>
                  <a:srgbClr val="696969"/>
                </a:solidFill>
                <a:latin typeface="Arial"/>
                <a:ea typeface="Arial"/>
                <a:cs typeface="Arial"/>
              </a:rPr>
              <a:t>80/20 hold-out split</a:t>
            </a:r>
          </a:p>
        </p:txBody>
      </p:sp>
      <p:sp>
        <p:nvSpPr>
          <p:cNvPr id="22" name="text-81">
            <a:extLst xmlns:a="http://schemas.openxmlformats.org/drawingml/2006/main">
              <a:ext uri="{FF2B5EF4-FFF2-40B4-BE49-F238E27FC236}">
                <a16:creationId xmlns:a16="http://schemas.microsoft.com/office/drawing/2014/main" id="{DF9A891E-725D-4D9E-AB2F-C80844B0EA2D}"/>
              </a:ext>
            </a:extLst>
          </p:cNvPr>
          <p:cNvSpPr>
            <a:spLocks xmlns:a="http://schemas.openxmlformats.org/drawingml/2006/main" noGrp="1"/>
          </p:cNvSpPr>
          <p:nvPr/>
        </p:nvSpPr>
        <p:spPr>
          <a:xfrm xmlns:a="http://schemas.openxmlformats.org/drawingml/2006/main">
            <a:off x="9296400" y="3943350"/>
            <a:ext cx="2057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41413"/>
                </a:solidFill>
                <a:latin typeface="Arial"/>
                <a:ea typeface="Arial"/>
                <a:cs typeface="Arial"/>
              </a:defRPr>
            </a:defPPr>
          </a:lstStyle>
          <a:p xmlns:a="http://schemas.openxmlformats.org/drawingml/2006/main">
            <a:pPr algn="l">
              <a:defRPr sz="1500" b="0">
                <a:solidFill>
                  <a:srgbClr val="141413"/>
                </a:solidFill>
                <a:latin typeface="Arial"/>
                <a:ea typeface="Arial"/>
                <a:cs typeface="Arial"/>
              </a:defRPr>
            </a:pPr>
            <a:r>
              <a:rPr sz="1500" b="0">
                <a:solidFill>
                  <a:srgbClr val="141413"/>
                </a:solidFill>
                <a:latin typeface="Arial"/>
                <a:ea typeface="Arial"/>
                <a:cs typeface="Arial"/>
              </a:rPr>
              <a:t>Seed 42</a:t>
            </a:r>
          </a:p>
        </p:txBody>
      </p:sp>
      <p:sp>
        <p:nvSpPr>
          <p:cNvPr id="23" name="text-82">
            <a:extLst xmlns:a="http://schemas.openxmlformats.org/drawingml/2006/main">
              <a:ext uri="{FF2B5EF4-FFF2-40B4-BE49-F238E27FC236}">
                <a16:creationId xmlns:a16="http://schemas.microsoft.com/office/drawing/2014/main" id="{E39FD4C5-32FE-4C4F-8B8D-E4BD6588D73D}"/>
              </a:ext>
            </a:extLst>
          </p:cNvPr>
          <p:cNvSpPr>
            <a:spLocks xmlns:a="http://schemas.openxmlformats.org/drawingml/2006/main" noGrp="1"/>
          </p:cNvSpPr>
          <p:nvPr/>
        </p:nvSpPr>
        <p:spPr>
          <a:xfrm xmlns:a="http://schemas.openxmlformats.org/drawingml/2006/main">
            <a:off x="609600" y="49149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1413"/>
                </a:solidFill>
                <a:latin typeface="Arial"/>
                <a:ea typeface="Arial"/>
                <a:cs typeface="Arial"/>
              </a:defRPr>
            </a:defPPr>
          </a:lstStyle>
          <a:p xmlns:a="http://schemas.openxmlformats.org/drawingml/2006/main">
            <a:pPr algn="l">
              <a:defRPr sz="2100" b="0">
                <a:solidFill>
                  <a:srgbClr val="141413"/>
                </a:solidFill>
                <a:latin typeface="Arial"/>
                <a:ea typeface="Arial"/>
                <a:cs typeface="Arial"/>
              </a:defRPr>
            </a:pPr>
            <a:r>
              <a:rPr sz="2100" b="0">
                <a:solidFill>
                  <a:srgbClr val="141413"/>
                </a:solidFill>
                <a:latin typeface="Arial"/>
                <a:ea typeface="Arial"/>
                <a:cs typeface="Arial"/>
              </a:rPr>
              <a:t>212 records listed on or before publication were retained.</a:t>
            </a:r>
          </a:p>
        </p:txBody>
      </p:sp>
      <p:sp>
        <p:nvSpPr>
          <p:cNvPr id="24" name="text-83">
            <a:extLst xmlns:a="http://schemas.openxmlformats.org/drawingml/2006/main">
              <a:ext uri="{FF2B5EF4-FFF2-40B4-BE49-F238E27FC236}">
                <a16:creationId xmlns:a16="http://schemas.microsoft.com/office/drawing/2014/main" id="{76348C5F-8C0F-48E1-B845-11DDABECB4FD}"/>
              </a:ext>
            </a:extLst>
          </p:cNvPr>
          <p:cNvSpPr>
            <a:spLocks xmlns:a="http://schemas.openxmlformats.org/drawingml/2006/main" noGrp="1"/>
          </p:cNvSpPr>
          <p:nvPr/>
        </p:nvSpPr>
        <p:spPr>
          <a:xfrm xmlns:a="http://schemas.openxmlformats.org/drawingml/2006/main">
            <a:off x="609600" y="5381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96969"/>
                </a:solidFill>
                <a:latin typeface="Arial"/>
                <a:ea typeface="Arial"/>
                <a:cs typeface="Arial"/>
              </a:defRPr>
            </a:defPPr>
          </a:lstStyle>
          <a:p xmlns:a="http://schemas.openxmlformats.org/drawingml/2006/main">
            <a:pPr algn="l">
              <a:defRPr sz="1800" b="0">
                <a:solidFill>
                  <a:srgbClr val="696969"/>
                </a:solidFill>
                <a:latin typeface="Arial"/>
                <a:ea typeface="Arial"/>
                <a:cs typeface="Arial"/>
              </a:defRPr>
            </a:pPr>
            <a:r>
              <a:rPr sz="1800" b="0">
                <a:solidFill>
                  <a:srgbClr val="696969"/>
                </a:solidFill>
                <a:latin typeface="Arial"/>
                <a:ea typeface="Arial"/>
                <a:cs typeface="Arial"/>
              </a:rPr>
              <a:t>Missingness varies with CVE age (p &lt; 0.001).</a:t>
            </a:r>
          </a:p>
        </p:txBody>
      </p:sp>
      <p:sp>
        <p:nvSpPr>
          <p:cNvPr id="25" name="text-84">
            <a:extLst xmlns:a="http://schemas.openxmlformats.org/drawingml/2006/main">
              <a:ext uri="{FF2B5EF4-FFF2-40B4-BE49-F238E27FC236}">
                <a16:creationId xmlns:a16="http://schemas.microsoft.com/office/drawing/2014/main" id="{EAD06E27-5419-497A-ADB4-00F937B1ED64}"/>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Validation limit: some preprocessing was fitted before splitting; refit within folds next.</a:t>
            </a:r>
          </a:p>
        </p:txBody>
      </p:sp>
    </p:spTree>
    <p:extLst>
      <p:ext uri="{BB962C8B-B14F-4D97-AF65-F5344CB8AC3E}">
        <p14:creationId xmlns:p14="http://schemas.microsoft.com/office/powerpoint/2010/main" val="1818601485"/>
      </p:ext>
    </p:extLst>
  </p:cSld>
</p:sld>
</file>

<file path=ppt/slides/slide6.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1" name="text-85">
            <a:extLst xmlns:a="http://schemas.openxmlformats.org/drawingml/2006/main">
              <a:ext uri="{FF2B5EF4-FFF2-40B4-BE49-F238E27FC236}">
                <a16:creationId xmlns:a16="http://schemas.microsoft.com/office/drawing/2014/main" id="{3E56BDD3-9C4E-4D87-89CC-3BAD7121553A}"/>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What the data looks like</a:t>
            </a:r>
          </a:p>
        </p:txBody>
      </p:sp>
      <p:sp>
        <p:nvSpPr>
          <p:cNvPr id="2" name="text-86">
            <a:extLst xmlns:a="http://schemas.openxmlformats.org/drawingml/2006/main">
              <a:ext uri="{FF2B5EF4-FFF2-40B4-BE49-F238E27FC236}">
                <a16:creationId xmlns:a16="http://schemas.microsoft.com/office/drawing/2014/main" id="{59F46A91-402B-40E8-AA63-5078C6D156DB}"/>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Quick listings coexist with a long publication-to-listing delay</a:t>
            </a:r>
          </a:p>
        </p:txBody>
      </p:sp>
      <p:sp>
        <p:nvSpPr>
          <p:cNvPr id="3" name="text-87">
            <a:extLst xmlns:a="http://schemas.openxmlformats.org/drawingml/2006/main">
              <a:ext uri="{FF2B5EF4-FFF2-40B4-BE49-F238E27FC236}">
                <a16:creationId xmlns:a16="http://schemas.microsoft.com/office/drawing/2014/main" id="{EC424522-1EDD-4716-8153-6042273F09EE}"/>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06</a:t>
            </a:r>
          </a:p>
        </p:txBody>
      </p:sp>
      <p:sp>
        <p:nvSpPr>
          <p:cNvPr id="4" name="shape-88">
            <a:extLst xmlns:a="http://schemas.openxmlformats.org/drawingml/2006/main">
              <a:ext uri="{FF2B5EF4-FFF2-40B4-BE49-F238E27FC236}">
                <a16:creationId xmlns:a16="http://schemas.microsoft.com/office/drawing/2014/main" id="{42A780D6-FDEA-4618-BD1E-8FE3A312EB82}"/>
              </a:ext>
            </a:extLst>
          </p:cNvPr>
          <p:cNvSpPr>
            <a:spLocks xmlns:a="http://schemas.openxmlformats.org/drawingml/2006/main" noGrp="1"/>
          </p:cNvSpPr>
          <p:nvPr/>
        </p:nvSpPr>
        <p:spPr>
          <a:xfrm xmlns:a="http://schemas.openxmlformats.org/drawingml/2006/main">
            <a:off x="609600" y="1790700"/>
            <a:ext cx="5334000" cy="3714750"/>
          </a:xfrm>
          <a:prstGeom xmlns:a="http://schemas.openxmlformats.org/drawingml/2006/main" prst="roundRect">
            <a:avLst>
              <a:gd name="adj" fmla="val 10256"/>
            </a:avLst>
          </a:prstGeom>
          <a:solidFill xmlns:a="http://schemas.openxmlformats.org/drawingml/2006/main">
            <a:srgbClr val="FCFBFA"/>
          </a:solidFill>
          <a:ln xmlns:a="http://schemas.openxmlformats.org/drawingml/2006/main" w="0">
            <a:noFill/>
          </a:ln>
        </p:spPr>
      </p:sp>
      <p:sp>
        <p:nvSpPr>
          <p:cNvPr id="5" name="shape-89">
            <a:extLst xmlns:a="http://schemas.openxmlformats.org/drawingml/2006/main">
              <a:ext uri="{FF2B5EF4-FFF2-40B4-BE49-F238E27FC236}">
                <a16:creationId xmlns:a16="http://schemas.microsoft.com/office/drawing/2014/main" id="{F8C9EA26-0BD3-4C0E-8E16-CC00D95E33F2}"/>
              </a:ext>
            </a:extLst>
          </p:cNvPr>
          <p:cNvSpPr>
            <a:spLocks xmlns:a="http://schemas.openxmlformats.org/drawingml/2006/main" noGrp="1"/>
          </p:cNvSpPr>
          <p:nvPr/>
        </p:nvSpPr>
        <p:spPr>
          <a:xfrm xmlns:a="http://schemas.openxmlformats.org/drawingml/2006/main">
            <a:off x="6248400" y="1790700"/>
            <a:ext cx="5334000" cy="3714750"/>
          </a:xfrm>
          <a:prstGeom xmlns:a="http://schemas.openxmlformats.org/drawingml/2006/main" prst="roundRect">
            <a:avLst>
              <a:gd name="adj" fmla="val 10256"/>
            </a:avLst>
          </a:prstGeom>
          <a:solidFill xmlns:a="http://schemas.openxmlformats.org/drawingml/2006/main">
            <a:srgbClr val="FCFBFA"/>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E89CA600-627D-4773-9A69-641F163C3D80}"/>
              </a:ext>
            </a:extLst>
          </p:cNvPr>
          <p:cNvPicPr>
            <a:picLocks xmlns:a="http://schemas.openxmlformats.org/drawingml/2006/main" noChangeAspect="1"/>
          </p:cNvPicPr>
          <p:nvPr/>
        </p:nvPicPr>
        <p:blipFill>
          <a:blip xmlns:r="http://schemas.openxmlformats.org/officeDocument/2006/relationships" xmlns:a="http://schemas.openxmlformats.org/drawingml/2006/main" r:embed="Rf6cc208ab910429f"/>
          <a:srcRect xmlns:a="http://schemas.openxmlformats.org/drawingml/2006/main" l="0" t="0" r="50000" b="0"/>
          <a:stretch xmlns:a="http://schemas.openxmlformats.org/drawingml/2006/main"/>
        </p:blipFill>
        <p:spPr>
          <a:xfrm xmlns:a="http://schemas.openxmlformats.org/drawingml/2006/main">
            <a:off x="781050" y="1962150"/>
            <a:ext cx="4991100" cy="3314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4F174D2-FECE-41F1-8A6C-34C1C68E0091}"/>
              </a:ext>
            </a:extLst>
          </p:cNvPr>
          <p:cNvPicPr>
            <a:picLocks xmlns:a="http://schemas.openxmlformats.org/drawingml/2006/main" noChangeAspect="1"/>
          </p:cNvPicPr>
          <p:nvPr/>
        </p:nvPicPr>
        <p:blipFill>
          <a:blip xmlns:r="http://schemas.openxmlformats.org/officeDocument/2006/relationships" xmlns:a="http://schemas.openxmlformats.org/drawingml/2006/main" r:embed="Rfb7bc3acb1ec4f8b"/>
          <a:srcRect xmlns:a="http://schemas.openxmlformats.org/drawingml/2006/main" l="0" t="0" r="52000" b="0"/>
          <a:stretch xmlns:a="http://schemas.openxmlformats.org/drawingml/2006/main"/>
        </p:blipFill>
        <p:spPr>
          <a:xfrm xmlns:a="http://schemas.openxmlformats.org/drawingml/2006/main">
            <a:off x="6419850" y="1962150"/>
            <a:ext cx="4991100" cy="3314700"/>
          </a:xfrm>
          <a:prstGeom xmlns:a="http://schemas.openxmlformats.org/drawingml/2006/main" prst="rect">
            <a:avLst/>
          </a:prstGeom>
        </p:spPr>
      </p:pic>
      <p:sp>
        <p:nvSpPr>
          <p:cNvPr id="8" name="text-90">
            <a:extLst xmlns:a="http://schemas.openxmlformats.org/drawingml/2006/main">
              <a:ext uri="{FF2B5EF4-FFF2-40B4-BE49-F238E27FC236}">
                <a16:creationId xmlns:a16="http://schemas.microsoft.com/office/drawing/2014/main" id="{7A831D99-025F-4A7E-AEB9-CCEDAAF0684A}"/>
              </a:ext>
            </a:extLst>
          </p:cNvPr>
          <p:cNvSpPr>
            <a:spLocks xmlns:a="http://schemas.openxmlformats.org/drawingml/2006/main" noGrp="1"/>
          </p:cNvSpPr>
          <p:nvPr/>
        </p:nvSpPr>
        <p:spPr>
          <a:xfrm xmlns:a="http://schemas.openxmlformats.org/drawingml/2006/main">
            <a:off x="609600" y="56388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782 listed more than a year later</a:t>
            </a:r>
          </a:p>
        </p:txBody>
      </p:sp>
      <p:sp>
        <p:nvSpPr>
          <p:cNvPr id="9" name="text-91">
            <a:extLst xmlns:a="http://schemas.openxmlformats.org/drawingml/2006/main">
              <a:ext uri="{FF2B5EF4-FFF2-40B4-BE49-F238E27FC236}">
                <a16:creationId xmlns:a16="http://schemas.microsoft.com/office/drawing/2014/main" id="{5DFD29ED-B5C1-494D-A558-9A042390297D}"/>
              </a:ext>
            </a:extLst>
          </p:cNvPr>
          <p:cNvSpPr>
            <a:spLocks xmlns:a="http://schemas.openxmlformats.org/drawingml/2006/main" noGrp="1"/>
          </p:cNvSpPr>
          <p:nvPr/>
        </p:nvSpPr>
        <p:spPr>
          <a:xfrm xmlns:a="http://schemas.openxmlformats.org/drawingml/2006/main">
            <a:off x="6248400" y="563880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Microsoft: 22.8% of this catalogue</a:t>
            </a:r>
          </a:p>
        </p:txBody>
      </p:sp>
      <p:sp>
        <p:nvSpPr>
          <p:cNvPr id="10" name="text-92">
            <a:extLst xmlns:a="http://schemas.openxmlformats.org/drawingml/2006/main">
              <a:ext uri="{FF2B5EF4-FFF2-40B4-BE49-F238E27FC236}">
                <a16:creationId xmlns:a16="http://schemas.microsoft.com/office/drawing/2014/main" id="{D46797C9-CB80-4C87-89A8-2041E1732224}"/>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Selected panels: kfig1_lag, kfig5_who. Lag histogram capped at 1,500 days.</a:t>
            </a:r>
          </a:p>
        </p:txBody>
      </p:sp>
    </p:spTree>
    <p:extLst>
      <p:ext uri="{BB962C8B-B14F-4D97-AF65-F5344CB8AC3E}">
        <p14:creationId xmlns:p14="http://schemas.microsoft.com/office/powerpoint/2010/main" val="411417368"/>
      </p:ext>
    </p:extLst>
  </p:cSld>
</p:sld>
</file>

<file path=ppt/slides/slide7.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2" name="text-93">
            <a:extLst xmlns:a="http://schemas.openxmlformats.org/drawingml/2006/main">
              <a:ext uri="{FF2B5EF4-FFF2-40B4-BE49-F238E27FC236}">
                <a16:creationId xmlns:a16="http://schemas.microsoft.com/office/drawing/2014/main" id="{926C4A8E-80F6-449A-A739-1D73076BFD2E}"/>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The trap: a calendar artefact</a:t>
            </a:r>
          </a:p>
        </p:txBody>
      </p:sp>
      <p:sp>
        <p:nvSpPr>
          <p:cNvPr id="2" name="text-94">
            <a:extLst xmlns:a="http://schemas.openxmlformats.org/drawingml/2006/main">
              <a:ext uri="{FF2B5EF4-FFF2-40B4-BE49-F238E27FC236}">
                <a16:creationId xmlns:a16="http://schemas.microsoft.com/office/drawing/2014/main" id="{7FD233A0-0EBC-4457-A602-29C75AC9D25A}"/>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KEV opened in November 2021. Older CVEs inherit a large lag.</a:t>
            </a:r>
          </a:p>
        </p:txBody>
      </p:sp>
      <p:sp>
        <p:nvSpPr>
          <p:cNvPr id="3" name="text-95">
            <a:extLst xmlns:a="http://schemas.openxmlformats.org/drawingml/2006/main">
              <a:ext uri="{FF2B5EF4-FFF2-40B4-BE49-F238E27FC236}">
                <a16:creationId xmlns:a16="http://schemas.microsoft.com/office/drawing/2014/main" id="{A9BD0ACA-DA50-45A3-B713-9D66839F5294}"/>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07</a:t>
            </a:r>
          </a:p>
        </p:txBody>
      </p:sp>
      <p:sp>
        <p:nvSpPr>
          <p:cNvPr id="4" name="shape-96">
            <a:extLst xmlns:a="http://schemas.openxmlformats.org/drawingml/2006/main">
              <a:ext uri="{FF2B5EF4-FFF2-40B4-BE49-F238E27FC236}">
                <a16:creationId xmlns:a16="http://schemas.microsoft.com/office/drawing/2014/main" id="{148ACED7-981D-4496-8687-CFF9D1E43785}"/>
              </a:ext>
            </a:extLst>
          </p:cNvPr>
          <p:cNvSpPr>
            <a:spLocks xmlns:a="http://schemas.openxmlformats.org/drawingml/2006/main" noGrp="1"/>
          </p:cNvSpPr>
          <p:nvPr/>
        </p:nvSpPr>
        <p:spPr>
          <a:xfrm xmlns:a="http://schemas.openxmlformats.org/drawingml/2006/main">
            <a:off x="457200" y="1733550"/>
            <a:ext cx="11277600" cy="4038600"/>
          </a:xfrm>
          <a:prstGeom xmlns:a="http://schemas.openxmlformats.org/drawingml/2006/main" prst="roundRect">
            <a:avLst>
              <a:gd name="adj" fmla="val 9434"/>
            </a:avLst>
          </a:prstGeom>
          <a:solidFill xmlns:a="http://schemas.openxmlformats.org/drawingml/2006/main">
            <a:srgbClr val="FCFBFA"/>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25052B3-FBC2-421C-8ED2-50D55C031542}"/>
              </a:ext>
            </a:extLst>
          </p:cNvPr>
          <p:cNvPicPr>
            <a:picLocks xmlns:a="http://schemas.openxmlformats.org/drawingml/2006/main" noChangeAspect="1"/>
          </p:cNvPicPr>
          <p:nvPr/>
        </p:nvPicPr>
        <p:blipFill>
          <a:blip xmlns:r="http://schemas.openxmlformats.org/officeDocument/2006/relationships" xmlns:a="http://schemas.openxmlformats.org/drawingml/2006/main" r:embed="Ra1c0fe38bfa241ba"/>
          <a:stretch xmlns:a="http://schemas.openxmlformats.org/drawingml/2006/main"/>
        </p:blipFill>
        <p:spPr>
          <a:xfrm xmlns:a="http://schemas.openxmlformats.org/drawingml/2006/main">
            <a:off x="613455" y="1847850"/>
            <a:ext cx="10965089" cy="3810000"/>
          </a:xfrm>
          <a:prstGeom xmlns:a="http://schemas.openxmlformats.org/drawingml/2006/main" prst="rect">
            <a:avLst/>
          </a:prstGeom>
        </p:spPr>
      </p:pic>
      <p:sp>
        <p:nvSpPr>
          <p:cNvPr id="6" name="shape-97">
            <a:extLst xmlns:a="http://schemas.openxmlformats.org/drawingml/2006/main">
              <a:ext uri="{FF2B5EF4-FFF2-40B4-BE49-F238E27FC236}">
                <a16:creationId xmlns:a16="http://schemas.microsoft.com/office/drawing/2014/main" id="{6D0F4D1E-8244-47D9-919B-3C8FFE4D9A24}"/>
              </a:ext>
            </a:extLst>
          </p:cNvPr>
          <p:cNvSpPr>
            <a:spLocks xmlns:a="http://schemas.openxmlformats.org/drawingml/2006/main" noGrp="1"/>
          </p:cNvSpPr>
          <p:nvPr/>
        </p:nvSpPr>
        <p:spPr>
          <a:xfrm xmlns:a="http://schemas.openxmlformats.org/drawingml/2006/main">
            <a:off x="1362075" y="5819775"/>
            <a:ext cx="3143250" cy="485775"/>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7" name="text-98">
            <a:extLst xmlns:a="http://schemas.openxmlformats.org/drawingml/2006/main">
              <a:ext uri="{FF2B5EF4-FFF2-40B4-BE49-F238E27FC236}">
                <a16:creationId xmlns:a16="http://schemas.microsoft.com/office/drawing/2014/main" id="{4A0F2FBA-C871-4010-BB16-64F5462D18B1}"/>
              </a:ext>
            </a:extLst>
          </p:cNvPr>
          <p:cNvSpPr>
            <a:spLocks xmlns:a="http://schemas.openxmlformats.org/drawingml/2006/main" noGrp="1"/>
          </p:cNvSpPr>
          <p:nvPr/>
        </p:nvSpPr>
        <p:spPr>
          <a:xfrm xmlns:a="http://schemas.openxmlformats.org/drawingml/2006/main">
            <a:off x="1552575" y="5894165"/>
            <a:ext cx="2762250" cy="372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F3F0EE"/>
                </a:solidFill>
                <a:latin typeface="Arial"/>
                <a:ea typeface="Arial"/>
                <a:cs typeface="Arial"/>
              </a:defRPr>
            </a:defPPr>
          </a:lstStyle>
          <a:p xmlns:a="http://schemas.openxmlformats.org/drawingml/2006/main">
            <a:pPr algn="ctr">
              <a:defRPr sz="2175" b="0">
                <a:solidFill>
                  <a:srgbClr val="F3F0EE"/>
                </a:solidFill>
                <a:latin typeface="Arial"/>
                <a:ea typeface="Arial"/>
                <a:cs typeface="Arial"/>
              </a:defRPr>
            </a:pPr>
            <a:r>
              <a:rPr sz="2175" b="0">
                <a:solidFill>
                  <a:srgbClr val="F3F0EE"/>
                </a:solidFill>
                <a:latin typeface="Arial"/>
                <a:ea typeface="Arial"/>
                <a:cs typeface="Arial"/>
              </a:rPr>
              <a:t>r = −0.916</a:t>
            </a:r>
          </a:p>
        </p:txBody>
      </p:sp>
      <p:sp>
        <p:nvSpPr>
          <p:cNvPr id="8" name="text-99">
            <a:extLst xmlns:a="http://schemas.openxmlformats.org/drawingml/2006/main">
              <a:ext uri="{FF2B5EF4-FFF2-40B4-BE49-F238E27FC236}">
                <a16:creationId xmlns:a16="http://schemas.microsoft.com/office/drawing/2014/main" id="{B5C5F254-3A74-47AA-9270-DB6108B42B10}"/>
              </a:ext>
            </a:extLst>
          </p:cNvPr>
          <p:cNvSpPr>
            <a:spLocks xmlns:a="http://schemas.openxmlformats.org/drawingml/2006/main" noGrp="1"/>
          </p:cNvSpPr>
          <p:nvPr/>
        </p:nvSpPr>
        <p:spPr>
          <a:xfrm xmlns:a="http://schemas.openxmlformats.org/drawingml/2006/main">
            <a:off x="5867400" y="5857875"/>
            <a:ext cx="45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696969"/>
                </a:solidFill>
                <a:latin typeface="Arial"/>
                <a:ea typeface="Arial"/>
                <a:cs typeface="Arial"/>
              </a:defRPr>
            </a:defPPr>
          </a:lstStyle>
          <a:p xmlns:a="http://schemas.openxmlformats.org/drawingml/2006/main">
            <a:pPr algn="ctr">
              <a:defRPr sz="2475" b="0">
                <a:solidFill>
                  <a:srgbClr val="696969"/>
                </a:solidFill>
                <a:latin typeface="Arial"/>
                <a:ea typeface="Arial"/>
                <a:cs typeface="Arial"/>
              </a:defRPr>
            </a:pPr>
            <a:r>
              <a:rPr sz="2475" b="0">
                <a:solidFill>
                  <a:srgbClr val="696969"/>
                </a:solidFill>
                <a:latin typeface="Arial"/>
                <a:ea typeface="Arial"/>
                <a:cs typeface="Arial"/>
              </a:rPr>
              <a:t>→</a:t>
            </a:r>
          </a:p>
        </p:txBody>
      </p:sp>
      <p:sp>
        <p:nvSpPr>
          <p:cNvPr id="9" name="shape-100">
            <a:extLst xmlns:a="http://schemas.openxmlformats.org/drawingml/2006/main">
              <a:ext uri="{FF2B5EF4-FFF2-40B4-BE49-F238E27FC236}">
                <a16:creationId xmlns:a16="http://schemas.microsoft.com/office/drawing/2014/main" id="{EBA2D3AC-BFF3-45F7-89FB-E4C028B415D0}"/>
              </a:ext>
            </a:extLst>
          </p:cNvPr>
          <p:cNvSpPr>
            <a:spLocks xmlns:a="http://schemas.openxmlformats.org/drawingml/2006/main" noGrp="1"/>
          </p:cNvSpPr>
          <p:nvPr/>
        </p:nvSpPr>
        <p:spPr>
          <a:xfrm xmlns:a="http://schemas.openxmlformats.org/drawingml/2006/main">
            <a:off x="7686675" y="5819775"/>
            <a:ext cx="3143250" cy="485775"/>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10" name="text-101">
            <a:extLst xmlns:a="http://schemas.openxmlformats.org/drawingml/2006/main">
              <a:ext uri="{FF2B5EF4-FFF2-40B4-BE49-F238E27FC236}">
                <a16:creationId xmlns:a16="http://schemas.microsoft.com/office/drawing/2014/main" id="{3B444EB7-D65C-4F25-8E5D-D772C3624295}"/>
              </a:ext>
            </a:extLst>
          </p:cNvPr>
          <p:cNvSpPr>
            <a:spLocks xmlns:a="http://schemas.openxmlformats.org/drawingml/2006/main" noGrp="1"/>
          </p:cNvSpPr>
          <p:nvPr/>
        </p:nvSpPr>
        <p:spPr>
          <a:xfrm xmlns:a="http://schemas.openxmlformats.org/drawingml/2006/main">
            <a:off x="7877175" y="5894165"/>
            <a:ext cx="2762250" cy="372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F3F0EE"/>
                </a:solidFill>
                <a:latin typeface="Arial"/>
                <a:ea typeface="Arial"/>
                <a:cs typeface="Arial"/>
              </a:defRPr>
            </a:defPPr>
          </a:lstStyle>
          <a:p xmlns:a="http://schemas.openxmlformats.org/drawingml/2006/main">
            <a:pPr algn="ctr">
              <a:defRPr sz="2175" b="0">
                <a:solidFill>
                  <a:srgbClr val="F3F0EE"/>
                </a:solidFill>
                <a:latin typeface="Arial"/>
                <a:ea typeface="Arial"/>
                <a:cs typeface="Arial"/>
              </a:defRPr>
            </a:pPr>
            <a:r>
              <a:rPr sz="2175" b="0">
                <a:solidFill>
                  <a:srgbClr val="F3F0EE"/>
                </a:solidFill>
                <a:latin typeface="Arial"/>
                <a:ea typeface="Arial"/>
                <a:cs typeface="Arial"/>
              </a:rPr>
              <a:t>r = −0.293</a:t>
            </a:r>
          </a:p>
        </p:txBody>
      </p:sp>
      <p:sp>
        <p:nvSpPr>
          <p:cNvPr id="11" name="text-102">
            <a:extLst xmlns:a="http://schemas.openxmlformats.org/drawingml/2006/main">
              <a:ext uri="{FF2B5EF4-FFF2-40B4-BE49-F238E27FC236}">
                <a16:creationId xmlns:a16="http://schemas.microsoft.com/office/drawing/2014/main" id="{67E025A9-6175-43D6-873B-C5666218A085}"/>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Right: only CVEs published on/after 03 Nov 2021 (n = 817). Lag means time to listing.</a:t>
            </a:r>
          </a:p>
        </p:txBody>
      </p:sp>
    </p:spTree>
    <p:extLst>
      <p:ext uri="{BB962C8B-B14F-4D97-AF65-F5344CB8AC3E}">
        <p14:creationId xmlns:p14="http://schemas.microsoft.com/office/powerpoint/2010/main" val="1416275520"/>
      </p:ext>
    </p:extLst>
  </p:cSld>
</p:sld>
</file>

<file path=ppt/slides/slide8.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1" name="text-103">
            <a:extLst xmlns:a="http://schemas.openxmlformats.org/drawingml/2006/main">
              <a:ext uri="{FF2B5EF4-FFF2-40B4-BE49-F238E27FC236}">
                <a16:creationId xmlns:a16="http://schemas.microsoft.com/office/drawing/2014/main" id="{4CE3780C-A3EF-4A17-9741-0DE20374E960}"/>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Significant does not mean useful</a:t>
            </a:r>
          </a:p>
        </p:txBody>
      </p:sp>
      <p:sp>
        <p:nvSpPr>
          <p:cNvPr id="2" name="text-104">
            <a:extLst xmlns:a="http://schemas.openxmlformats.org/drawingml/2006/main">
              <a:ext uri="{FF2B5EF4-FFF2-40B4-BE49-F238E27FC236}">
                <a16:creationId xmlns:a16="http://schemas.microsoft.com/office/drawing/2014/main" id="{8C414FCE-6008-4F3C-9057-EF40E9C197F8}"/>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Small effects limit the practical value of the associations</a:t>
            </a:r>
          </a:p>
        </p:txBody>
      </p:sp>
      <p:sp>
        <p:nvSpPr>
          <p:cNvPr id="3" name="text-105">
            <a:extLst xmlns:a="http://schemas.openxmlformats.org/drawingml/2006/main">
              <a:ext uri="{FF2B5EF4-FFF2-40B4-BE49-F238E27FC236}">
                <a16:creationId xmlns:a16="http://schemas.microsoft.com/office/drawing/2014/main" id="{04BB2033-2098-46AA-BABA-BD8593EEADD1}"/>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EF4F537E-A7F6-4EF0-8E86-5AE0D338FF4B}"/>
              </a:ext>
            </a:extLst>
          </p:cNvPr>
          <p:cNvGraphicFramePr/>
          <p:nvPr/>
        </p:nvGraphicFramePr>
        <p:xfrm>
          <a:off xmlns:a="http://schemas.openxmlformats.org/drawingml/2006/main" x="609600" y="2000250"/>
          <a:ext xmlns:a="http://schemas.openxmlformats.org/drawingml/2006/main" cx="6229350" cy="2781300"/>
        </p:xfrm>
        <a:graphic xmlns:a="http://schemas.openxmlformats.org/drawingml/2006/main">
          <a:graphicData uri="http://schemas.openxmlformats.org/drawingml/2006/table">
            <a:tbl>
              <a:tblPr/>
              <a:tblGrid>
                <a:gridCol w="2419350"/>
                <a:gridCol w="1733550"/>
                <a:gridCol w="2076450"/>
              </a:tblGrid>
              <a:tr h="695325">
                <a:tc>
                  <a:txBody>
                    <a:bodyPr/>
                    <a:lstStyle/>
                    <a:p>
                      <a:r>
                        <a:rPr sz="1650" b="1">
                          <a:solidFill>
                            <a:srgbClr val="F3F0EE"/>
                          </a:solidFill>
                          <a:latin typeface="Arial"/>
                          <a:ea typeface="Arial"/>
                          <a:cs typeface="Arial"/>
                        </a:rPr>
                        <a:t>Test</a:t>
                      </a:r>
                    </a:p>
                  </a:txBody>
                  <a:tcPr marL="123825" marR="95250" marT="114300" marB="85725" anchor="ctr">
                    <a:solidFill>
                      <a:srgbClr val="141413"/>
                    </a:solidFill>
                  </a:tcPr>
                </a:tc>
                <a:tc>
                  <a:txBody>
                    <a:bodyPr/>
                    <a:lstStyle/>
                    <a:p>
                      <a:r>
                        <a:rPr sz="1650" b="1">
                          <a:solidFill>
                            <a:srgbClr val="F3F0EE"/>
                          </a:solidFill>
                          <a:latin typeface="Arial"/>
                          <a:ea typeface="Arial"/>
                          <a:cs typeface="Arial"/>
                        </a:rPr>
                        <a:t>p-value</a:t>
                      </a:r>
                    </a:p>
                  </a:txBody>
                  <a:tcPr marL="123825" marR="95250" marT="114300" marB="85725" anchor="ctr">
                    <a:solidFill>
                      <a:srgbClr val="141413"/>
                    </a:solidFill>
                  </a:tcPr>
                </a:tc>
                <a:tc>
                  <a:txBody>
                    <a:bodyPr/>
                    <a:lstStyle/>
                    <a:p>
                      <a:r>
                        <a:rPr sz="1650" b="1">
                          <a:solidFill>
                            <a:srgbClr val="F3F0EE"/>
                          </a:solidFill>
                          <a:latin typeface="Arial"/>
                          <a:ea typeface="Arial"/>
                          <a:cs typeface="Arial"/>
                        </a:rPr>
                        <a:t>Effect</a:t>
                      </a:r>
                    </a:p>
                  </a:txBody>
                  <a:tcPr marL="123825" marR="95250" marT="114300" marB="85725" anchor="ctr">
                    <a:solidFill>
                      <a:srgbClr val="141413"/>
                    </a:solidFill>
                  </a:tcPr>
                </a:tc>
              </a:tr>
              <a:tr h="695325">
                <a:tc>
                  <a:txBody>
                    <a:bodyPr/>
                    <a:lstStyle/>
                    <a:p>
                      <a:r>
                        <a:rPr sz="1650">
                          <a:solidFill>
                            <a:srgbClr val="141413"/>
                          </a:solidFill>
                          <a:latin typeface="Arial"/>
                          <a:ea typeface="Arial"/>
                          <a:cs typeface="Arial"/>
                        </a:rPr>
                        <a:t>Welch t</a:t>
                      </a:r>
                    </a:p>
                  </a:txBody>
                  <a:tcPr marL="123825" marR="95250" marT="114300" marB="85725" anchor="ctr">
                    <a:solidFill>
                      <a:srgbClr val="FCFBFA"/>
                    </a:solidFill>
                  </a:tcPr>
                </a:tc>
                <a:tc>
                  <a:txBody>
                    <a:bodyPr/>
                    <a:lstStyle/>
                    <a:p>
                      <a:r>
                        <a:rPr sz="1650">
                          <a:solidFill>
                            <a:srgbClr val="141413"/>
                          </a:solidFill>
                          <a:latin typeface="Arial"/>
                          <a:ea typeface="Arial"/>
                          <a:cs typeface="Arial"/>
                        </a:rPr>
                        <a:t>0.00048</a:t>
                      </a:r>
                    </a:p>
                  </a:txBody>
                  <a:tcPr marL="123825" marR="95250" marT="114300" marB="85725" anchor="ctr">
                    <a:solidFill>
                      <a:srgbClr val="FCFBFA"/>
                    </a:solidFill>
                  </a:tcPr>
                </a:tc>
                <a:tc>
                  <a:txBody>
                    <a:bodyPr/>
                    <a:lstStyle/>
                    <a:p>
                      <a:r>
                        <a:rPr sz="1650">
                          <a:solidFill>
                            <a:srgbClr val="141413"/>
                          </a:solidFill>
                          <a:latin typeface="Arial"/>
                          <a:ea typeface="Arial"/>
                          <a:cs typeface="Arial"/>
                        </a:rPr>
                        <a:t>d = 0.21</a:t>
                      </a:r>
                    </a:p>
                  </a:txBody>
                  <a:tcPr marL="123825" marR="95250" marT="114300" marB="85725" anchor="ctr">
                    <a:solidFill>
                      <a:srgbClr val="FCFBFA"/>
                    </a:solidFill>
                  </a:tcPr>
                </a:tc>
              </a:tr>
              <a:tr h="695325">
                <a:tc>
                  <a:txBody>
                    <a:bodyPr/>
                    <a:lstStyle/>
                    <a:p>
                      <a:r>
                        <a:rPr sz="1650">
                          <a:solidFill>
                            <a:srgbClr val="141413"/>
                          </a:solidFill>
                          <a:latin typeface="Arial"/>
                          <a:ea typeface="Arial"/>
                          <a:cs typeface="Arial"/>
                        </a:rPr>
                        <a:t>Chi-square</a:t>
                      </a:r>
                    </a:p>
                  </a:txBody>
                  <a:tcPr marL="123825" marR="95250" marT="114300" marB="85725" anchor="ctr">
                    <a:solidFill>
                      <a:srgbClr val="FCFBFA"/>
                    </a:solidFill>
                  </a:tcPr>
                </a:tc>
                <a:tc>
                  <a:txBody>
                    <a:bodyPr/>
                    <a:lstStyle/>
                    <a:p>
                      <a:r>
                        <a:rPr sz="1650">
                          <a:solidFill>
                            <a:srgbClr val="141413"/>
                          </a:solidFill>
                          <a:latin typeface="Arial"/>
                          <a:ea typeface="Arial"/>
                          <a:cs typeface="Arial"/>
                        </a:rPr>
                        <a:t>0.000054</a:t>
                      </a:r>
                    </a:p>
                  </a:txBody>
                  <a:tcPr marL="123825" marR="95250" marT="114300" marB="85725" anchor="ctr">
                    <a:solidFill>
                      <a:srgbClr val="FCFBFA"/>
                    </a:solidFill>
                  </a:tcPr>
                </a:tc>
                <a:tc>
                  <a:txBody>
                    <a:bodyPr/>
                    <a:lstStyle/>
                    <a:p>
                      <a:r>
                        <a:rPr sz="1650">
                          <a:solidFill>
                            <a:srgbClr val="141413"/>
                          </a:solidFill>
                          <a:latin typeface="Arial"/>
                          <a:ea typeface="Arial"/>
                          <a:cs typeface="Arial"/>
                        </a:rPr>
                        <a:t>V = 0.098</a:t>
                      </a:r>
                    </a:p>
                  </a:txBody>
                  <a:tcPr marL="123825" marR="95250" marT="114300" marB="85725" anchor="ctr">
                    <a:solidFill>
                      <a:srgbClr val="FCFBFA"/>
                    </a:solidFill>
                  </a:tcPr>
                </a:tc>
              </a:tr>
              <a:tr h="695325">
                <a:tc>
                  <a:txBody>
                    <a:bodyPr/>
                    <a:lstStyle/>
                    <a:p>
                      <a:r>
                        <a:rPr sz="1650">
                          <a:solidFill>
                            <a:srgbClr val="141413"/>
                          </a:solidFill>
                          <a:latin typeface="Arial"/>
                          <a:ea typeface="Arial"/>
                          <a:cs typeface="Arial"/>
                        </a:rPr>
                        <a:t>Kruskal–Wallis</a:t>
                      </a:r>
                    </a:p>
                  </a:txBody>
                  <a:tcPr marL="123825" marR="95250" marT="114300" marB="85725" anchor="ctr">
                    <a:solidFill>
                      <a:srgbClr val="FCFBFA"/>
                    </a:solidFill>
                  </a:tcPr>
                </a:tc>
                <a:tc>
                  <a:txBody>
                    <a:bodyPr/>
                    <a:lstStyle/>
                    <a:p>
                      <a:r>
                        <a:rPr sz="1650">
                          <a:solidFill>
                            <a:srgbClr val="141413"/>
                          </a:solidFill>
                          <a:latin typeface="Arial"/>
                          <a:ea typeface="Arial"/>
                          <a:cs typeface="Arial"/>
                        </a:rPr>
                        <a:t>0.063</a:t>
                      </a:r>
                    </a:p>
                  </a:txBody>
                  <a:tcPr marL="123825" marR="95250" marT="114300" marB="85725" anchor="ctr">
                    <a:solidFill>
                      <a:srgbClr val="FCFBFA"/>
                    </a:solidFill>
                  </a:tcPr>
                </a:tc>
                <a:tc>
                  <a:txBody>
                    <a:bodyPr/>
                    <a:lstStyle/>
                    <a:p>
                      <a:r>
                        <a:rPr sz="1650">
                          <a:solidFill>
                            <a:srgbClr val="141413"/>
                          </a:solidFill>
                          <a:latin typeface="Arial"/>
                          <a:ea typeface="Arial"/>
                          <a:cs typeface="Arial"/>
                        </a:rPr>
                        <a:t>Not rejected</a:t>
                      </a:r>
                    </a:p>
                  </a:txBody>
                  <a:tcPr marL="123825" marR="95250" marT="114300" marB="85725" anchor="ctr">
                    <a:solidFill>
                      <a:srgbClr val="FCFBFA"/>
                    </a:solidFill>
                  </a:tcPr>
                </a:tc>
              </a:tr>
            </a:tbl>
          </a:graphicData>
        </a:graphic>
      </p:graphicFrame>
      <p:sp>
        <p:nvSpPr>
          <p:cNvPr id="5" name="shape-106">
            <a:extLst xmlns:a="http://schemas.openxmlformats.org/drawingml/2006/main">
              <a:ext uri="{FF2B5EF4-FFF2-40B4-BE49-F238E27FC236}">
                <a16:creationId xmlns:a16="http://schemas.microsoft.com/office/drawing/2014/main" id="{572EC021-4F08-41B9-B24E-74DAF5F758C8}"/>
              </a:ext>
            </a:extLst>
          </p:cNvPr>
          <p:cNvSpPr>
            <a:spLocks xmlns:a="http://schemas.openxmlformats.org/drawingml/2006/main" noGrp="1"/>
          </p:cNvSpPr>
          <p:nvPr/>
        </p:nvSpPr>
        <p:spPr>
          <a:xfrm xmlns:a="http://schemas.openxmlformats.org/drawingml/2006/main">
            <a:off x="7181850" y="1809750"/>
            <a:ext cx="4400550" cy="3371850"/>
          </a:xfrm>
          <a:prstGeom xmlns:a="http://schemas.openxmlformats.org/drawingml/2006/main" prst="roundRect">
            <a:avLst>
              <a:gd name="adj" fmla="val 11299"/>
            </a:avLst>
          </a:prstGeom>
          <a:solidFill xmlns:a="http://schemas.openxmlformats.org/drawingml/2006/main">
            <a:srgbClr val="FCFBFA"/>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868F89BA-26C8-4112-9AC1-A652AF67F978}"/>
              </a:ext>
            </a:extLst>
          </p:cNvPr>
          <p:cNvPicPr>
            <a:picLocks xmlns:a="http://schemas.openxmlformats.org/drawingml/2006/main" noChangeAspect="1"/>
          </p:cNvPicPr>
          <p:nvPr/>
        </p:nvPicPr>
        <p:blipFill>
          <a:blip xmlns:r="http://schemas.openxmlformats.org/officeDocument/2006/relationships" xmlns:a="http://schemas.openxmlformats.org/drawingml/2006/main" r:embed="R8c3332c29b1a4a21"/>
          <a:srcRect xmlns:a="http://schemas.openxmlformats.org/drawingml/2006/main" l="0" t="0" r="66670" b="0"/>
          <a:stretch xmlns:a="http://schemas.openxmlformats.org/drawingml/2006/main"/>
        </p:blipFill>
        <p:spPr>
          <a:xfrm xmlns:a="http://schemas.openxmlformats.org/drawingml/2006/main">
            <a:off x="7334250" y="1981200"/>
            <a:ext cx="4095750" cy="3009900"/>
          </a:xfrm>
          <a:prstGeom xmlns:a="http://schemas.openxmlformats.org/drawingml/2006/main" prst="rect">
            <a:avLst/>
          </a:prstGeom>
        </p:spPr>
      </p:pic>
      <p:sp>
        <p:nvSpPr>
          <p:cNvPr id="7" name="shape-107">
            <a:extLst xmlns:a="http://schemas.openxmlformats.org/drawingml/2006/main">
              <a:ext uri="{FF2B5EF4-FFF2-40B4-BE49-F238E27FC236}">
                <a16:creationId xmlns:a16="http://schemas.microsoft.com/office/drawing/2014/main" id="{5229D11F-E847-4808-973E-1937445540AE}"/>
              </a:ext>
            </a:extLst>
          </p:cNvPr>
          <p:cNvSpPr>
            <a:spLocks xmlns:a="http://schemas.openxmlformats.org/drawingml/2006/main" noGrp="1"/>
          </p:cNvSpPr>
          <p:nvPr/>
        </p:nvSpPr>
        <p:spPr>
          <a:xfrm xmlns:a="http://schemas.openxmlformats.org/drawingml/2006/main">
            <a:off x="609600" y="5286375"/>
            <a:ext cx="6229350" cy="581025"/>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8" name="text-108">
            <a:extLst xmlns:a="http://schemas.openxmlformats.org/drawingml/2006/main">
              <a:ext uri="{FF2B5EF4-FFF2-40B4-BE49-F238E27FC236}">
                <a16:creationId xmlns:a16="http://schemas.microsoft.com/office/drawing/2014/main" id="{0D8C2815-78CB-441C-9634-8DF32C03ACAD}"/>
              </a:ext>
            </a:extLst>
          </p:cNvPr>
          <p:cNvSpPr>
            <a:spLocks xmlns:a="http://schemas.openxmlformats.org/drawingml/2006/main" noGrp="1"/>
          </p:cNvSpPr>
          <p:nvPr/>
        </p:nvSpPr>
        <p:spPr>
          <a:xfrm xmlns:a="http://schemas.openxmlformats.org/drawingml/2006/main">
            <a:off x="800100" y="5431631"/>
            <a:ext cx="584835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3F0EE"/>
                </a:solidFill>
                <a:latin typeface="Arial"/>
                <a:ea typeface="Arial"/>
                <a:cs typeface="Arial"/>
              </a:defRPr>
            </a:defPPr>
          </a:lstStyle>
          <a:p xmlns:a="http://schemas.openxmlformats.org/drawingml/2006/main">
            <a:pPr algn="ctr">
              <a:defRPr sz="1875" b="0">
                <a:solidFill>
                  <a:srgbClr val="F3F0EE"/>
                </a:solidFill>
                <a:latin typeface="Arial"/>
                <a:ea typeface="Arial"/>
                <a:cs typeface="Arial"/>
              </a:defRPr>
            </a:pPr>
            <a:r>
              <a:rPr sz="1875" b="0">
                <a:solidFill>
                  <a:srgbClr val="F3F0EE"/>
                </a:solidFill>
                <a:latin typeface="Arial"/>
                <a:ea typeface="Arial"/>
                <a:cs typeface="Arial"/>
              </a:rPr>
              <a:t>CVSS mean difference: 0.275 points</a:t>
            </a:r>
          </a:p>
        </p:txBody>
      </p:sp>
      <p:sp>
        <p:nvSpPr>
          <p:cNvPr id="9" name="text-109">
            <a:extLst xmlns:a="http://schemas.openxmlformats.org/drawingml/2006/main">
              <a:ext uri="{FF2B5EF4-FFF2-40B4-BE49-F238E27FC236}">
                <a16:creationId xmlns:a16="http://schemas.microsoft.com/office/drawing/2014/main" id="{EE3D874D-ED89-4693-8057-F1A9DEDE3ACD}"/>
              </a:ext>
            </a:extLst>
          </p:cNvPr>
          <p:cNvSpPr>
            <a:spLocks xmlns:a="http://schemas.openxmlformats.org/drawingml/2006/main" noGrp="1"/>
          </p:cNvSpPr>
          <p:nvPr/>
        </p:nvSpPr>
        <p:spPr>
          <a:xfrm xmlns:a="http://schemas.openxmlformats.org/drawingml/2006/main">
            <a:off x="7181850" y="5438775"/>
            <a:ext cx="440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Strong overlap in severity</a:t>
            </a:r>
          </a:p>
        </p:txBody>
      </p:sp>
      <p:sp>
        <p:nvSpPr>
          <p:cNvPr id="10" name="text-110">
            <a:extLst xmlns:a="http://schemas.openxmlformats.org/drawingml/2006/main">
              <a:ext uri="{FF2B5EF4-FFF2-40B4-BE49-F238E27FC236}">
                <a16:creationId xmlns:a16="http://schemas.microsoft.com/office/drawing/2014/main" id="{1A77A227-204D-4BC4-837A-F6E510771881}"/>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Automatable: 25.7% Known ransomware links vs 17.5%; odds ratio 1.64.</a:t>
            </a:r>
          </a:p>
        </p:txBody>
      </p:sp>
    </p:spTree>
    <p:extLst>
      <p:ext uri="{BB962C8B-B14F-4D97-AF65-F5344CB8AC3E}">
        <p14:creationId xmlns:p14="http://schemas.microsoft.com/office/powerpoint/2010/main" val="1479971113"/>
      </p:ext>
    </p:extLst>
  </p:cSld>
</p:sld>
</file>

<file path=ppt/slides/slide9.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2" name="text-111">
            <a:extLst xmlns:a="http://schemas.openxmlformats.org/drawingml/2006/main">
              <a:ext uri="{FF2B5EF4-FFF2-40B4-BE49-F238E27FC236}">
                <a16:creationId xmlns:a16="http://schemas.microsoft.com/office/drawing/2014/main" id="{D029184F-F193-4F5E-BB3A-64E2A275FCB3}"/>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Q1: no useful speed prediction here</a:t>
            </a:r>
          </a:p>
        </p:txBody>
      </p:sp>
      <p:sp>
        <p:nvSpPr>
          <p:cNvPr id="2" name="text-112">
            <a:extLst xmlns:a="http://schemas.openxmlformats.org/drawingml/2006/main">
              <a:ext uri="{FF2B5EF4-FFF2-40B4-BE49-F238E27FC236}">
                <a16:creationId xmlns:a16="http://schemas.microsoft.com/office/drawing/2014/main" id="{AD9E6449-9F6F-4B2B-9F97-7C884EA5FDEA}"/>
              </a:ext>
            </a:extLst>
          </p:cNvPr>
          <p:cNvSpPr>
            <a:spLocks xmlns:a="http://schemas.openxmlformats.org/drawingml/2006/main" noGrp="1"/>
          </p:cNvSpPr>
          <p:nvPr/>
        </p:nvSpPr>
        <p:spPr>
          <a:xfrm xmlns:a="http://schemas.openxmlformats.org/drawingml/2006/main">
            <a:off x="609600" y="1190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Apparent model skill collapses after the pre-launch backlog is removed</a:t>
            </a:r>
          </a:p>
        </p:txBody>
      </p:sp>
      <p:sp>
        <p:nvSpPr>
          <p:cNvPr id="3" name="text-113">
            <a:extLst xmlns:a="http://schemas.openxmlformats.org/drawingml/2006/main">
              <a:ext uri="{FF2B5EF4-FFF2-40B4-BE49-F238E27FC236}">
                <a16:creationId xmlns:a16="http://schemas.microsoft.com/office/drawing/2014/main" id="{85C109BC-B6AE-4E8F-9574-70DB6E2C6E24}"/>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09</a:t>
            </a:r>
          </a:p>
        </p:txBody>
      </p:sp>
      <p:sp>
        <p:nvSpPr>
          <p:cNvPr id="4" name="shape-114">
            <a:extLst xmlns:a="http://schemas.openxmlformats.org/drawingml/2006/main">
              <a:ext uri="{FF2B5EF4-FFF2-40B4-BE49-F238E27FC236}">
                <a16:creationId xmlns:a16="http://schemas.microsoft.com/office/drawing/2014/main" id="{CD878D7F-D928-493E-9E64-928F23EC8A44}"/>
              </a:ext>
            </a:extLst>
          </p:cNvPr>
          <p:cNvSpPr>
            <a:spLocks xmlns:a="http://schemas.openxmlformats.org/drawingml/2006/main" noGrp="1"/>
          </p:cNvSpPr>
          <p:nvPr/>
        </p:nvSpPr>
        <p:spPr>
          <a:xfrm xmlns:a="http://schemas.openxmlformats.org/drawingml/2006/main">
            <a:off x="609600" y="1752600"/>
            <a:ext cx="7962900" cy="4229100"/>
          </a:xfrm>
          <a:prstGeom xmlns:a="http://schemas.openxmlformats.org/drawingml/2006/main" prst="roundRect">
            <a:avLst>
              <a:gd name="adj" fmla="val 9009"/>
            </a:avLst>
          </a:prstGeom>
          <a:solidFill xmlns:a="http://schemas.openxmlformats.org/drawingml/2006/main">
            <a:srgbClr val="FCFBFA"/>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DB0065A-30D5-401E-945E-2345FB1F5C45}"/>
              </a:ext>
            </a:extLst>
          </p:cNvPr>
          <p:cNvPicPr>
            <a:picLocks xmlns:a="http://schemas.openxmlformats.org/drawingml/2006/main" noChangeAspect="1"/>
          </p:cNvPicPr>
          <p:nvPr/>
        </p:nvPicPr>
        <p:blipFill>
          <a:blip xmlns:r="http://schemas.openxmlformats.org/officeDocument/2006/relationships" xmlns:a="http://schemas.openxmlformats.org/drawingml/2006/main" r:embed="R2dda71e5a3204de8"/>
          <a:stretch xmlns:a="http://schemas.openxmlformats.org/drawingml/2006/main"/>
        </p:blipFill>
        <p:spPr>
          <a:xfrm xmlns:a="http://schemas.openxmlformats.org/drawingml/2006/main">
            <a:off x="771525" y="1918295"/>
            <a:ext cx="7639050" cy="3859610"/>
          </a:xfrm>
          <a:prstGeom xmlns:a="http://schemas.openxmlformats.org/drawingml/2006/main" prst="rect">
            <a:avLst/>
          </a:prstGeom>
        </p:spPr>
      </p:pic>
      <p:sp>
        <p:nvSpPr>
          <p:cNvPr id="6" name="text-115">
            <a:extLst xmlns:a="http://schemas.openxmlformats.org/drawingml/2006/main">
              <a:ext uri="{FF2B5EF4-FFF2-40B4-BE49-F238E27FC236}">
                <a16:creationId xmlns:a16="http://schemas.microsoft.com/office/drawing/2014/main" id="{73B6C407-AC17-46E7-8F8E-FF6B3027AE0E}"/>
              </a:ext>
            </a:extLst>
          </p:cNvPr>
          <p:cNvSpPr>
            <a:spLocks xmlns:a="http://schemas.openxmlformats.org/drawingml/2006/main" noGrp="1"/>
          </p:cNvSpPr>
          <p:nvPr/>
        </p:nvSpPr>
        <p:spPr>
          <a:xfrm xmlns:a="http://schemas.openxmlformats.org/drawingml/2006/main">
            <a:off x="8953500" y="2190750"/>
            <a:ext cx="2628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141413"/>
                </a:solidFill>
                <a:latin typeface="Arial"/>
                <a:ea typeface="Arial"/>
                <a:cs typeface="Arial"/>
              </a:defRPr>
            </a:defPPr>
          </a:lstStyle>
          <a:p xmlns:a="http://schemas.openxmlformats.org/drawingml/2006/main">
            <a:pPr algn="l">
              <a:defRPr sz="4350" b="0">
                <a:solidFill>
                  <a:srgbClr val="141413"/>
                </a:solidFill>
                <a:latin typeface="Arial"/>
                <a:ea typeface="Arial"/>
                <a:cs typeface="Arial"/>
              </a:defRPr>
            </a:pPr>
            <a:r>
              <a:rPr sz="4350" b="0">
                <a:solidFill>
                  <a:srgbClr val="141413"/>
                </a:solidFill>
                <a:latin typeface="Arial"/>
                <a:ea typeface="Arial"/>
                <a:cs typeface="Arial"/>
              </a:rPr>
              <a:t>0.584</a:t>
            </a:r>
          </a:p>
        </p:txBody>
      </p:sp>
      <p:sp>
        <p:nvSpPr>
          <p:cNvPr id="7" name="text-116">
            <a:extLst xmlns:a="http://schemas.openxmlformats.org/drawingml/2006/main">
              <a:ext uri="{FF2B5EF4-FFF2-40B4-BE49-F238E27FC236}">
                <a16:creationId xmlns:a16="http://schemas.microsoft.com/office/drawing/2014/main" id="{BF951F1C-CD5F-4A6F-8862-DA220EAE357B}"/>
              </a:ext>
            </a:extLst>
          </p:cNvPr>
          <p:cNvSpPr>
            <a:spLocks xmlns:a="http://schemas.openxmlformats.org/drawingml/2006/main" noGrp="1"/>
          </p:cNvSpPr>
          <p:nvPr/>
        </p:nvSpPr>
        <p:spPr>
          <a:xfrm xmlns:a="http://schemas.openxmlformats.org/drawingml/2006/main">
            <a:off x="8953500" y="3038475"/>
            <a:ext cx="2628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All records</a:t>
            </a:r>
          </a:p>
        </p:txBody>
      </p:sp>
      <p:sp>
        <p:nvSpPr>
          <p:cNvPr id="8" name="text-117">
            <a:extLst xmlns:a="http://schemas.openxmlformats.org/drawingml/2006/main">
              <a:ext uri="{FF2B5EF4-FFF2-40B4-BE49-F238E27FC236}">
                <a16:creationId xmlns:a16="http://schemas.microsoft.com/office/drawing/2014/main" id="{50555391-FA8A-400C-9E08-9D7CABA06C12}"/>
              </a:ext>
            </a:extLst>
          </p:cNvPr>
          <p:cNvSpPr>
            <a:spLocks xmlns:a="http://schemas.openxmlformats.org/drawingml/2006/main" noGrp="1"/>
          </p:cNvSpPr>
          <p:nvPr/>
        </p:nvSpPr>
        <p:spPr>
          <a:xfrm xmlns:a="http://schemas.openxmlformats.org/drawingml/2006/main">
            <a:off x="9563100" y="3495675"/>
            <a:ext cx="914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850" b="0">
                <a:solidFill>
                  <a:srgbClr val="696969"/>
                </a:solidFill>
                <a:latin typeface="Arial"/>
                <a:ea typeface="Arial"/>
                <a:cs typeface="Arial"/>
              </a:defRPr>
            </a:defPPr>
          </a:lstStyle>
          <a:p xmlns:a="http://schemas.openxmlformats.org/drawingml/2006/main">
            <a:pPr algn="ctr">
              <a:defRPr sz="2850" b="0">
                <a:solidFill>
                  <a:srgbClr val="696969"/>
                </a:solidFill>
                <a:latin typeface="Arial"/>
                <a:ea typeface="Arial"/>
                <a:cs typeface="Arial"/>
              </a:defRPr>
            </a:pPr>
            <a:r>
              <a:rPr sz="2850" b="0">
                <a:solidFill>
                  <a:srgbClr val="696969"/>
                </a:solidFill>
                <a:latin typeface="Arial"/>
                <a:ea typeface="Arial"/>
                <a:cs typeface="Arial"/>
              </a:rPr>
              <a:t>↓</a:t>
            </a:r>
          </a:p>
        </p:txBody>
      </p:sp>
      <p:sp>
        <p:nvSpPr>
          <p:cNvPr id="9" name="text-118">
            <a:extLst xmlns:a="http://schemas.openxmlformats.org/drawingml/2006/main">
              <a:ext uri="{FF2B5EF4-FFF2-40B4-BE49-F238E27FC236}">
                <a16:creationId xmlns:a16="http://schemas.microsoft.com/office/drawing/2014/main" id="{2FFB2036-A6A0-47C7-B7C0-233CF76BBFB2}"/>
              </a:ext>
            </a:extLst>
          </p:cNvPr>
          <p:cNvSpPr>
            <a:spLocks xmlns:a="http://schemas.openxmlformats.org/drawingml/2006/main" noGrp="1"/>
          </p:cNvSpPr>
          <p:nvPr/>
        </p:nvSpPr>
        <p:spPr>
          <a:xfrm xmlns:a="http://schemas.openxmlformats.org/drawingml/2006/main">
            <a:off x="8953500" y="4124325"/>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141413"/>
                </a:solidFill>
                <a:latin typeface="Arial"/>
                <a:ea typeface="Arial"/>
                <a:cs typeface="Arial"/>
              </a:defRPr>
            </a:defPPr>
          </a:lstStyle>
          <a:p xmlns:a="http://schemas.openxmlformats.org/drawingml/2006/main">
            <a:pPr algn="l">
              <a:defRPr sz="4350" b="0">
                <a:solidFill>
                  <a:srgbClr val="141413"/>
                </a:solidFill>
                <a:latin typeface="Arial"/>
                <a:ea typeface="Arial"/>
                <a:cs typeface="Arial"/>
              </a:defRPr>
            </a:pPr>
            <a:r>
              <a:rPr sz="4350" b="0">
                <a:solidFill>
                  <a:srgbClr val="141413"/>
                </a:solidFill>
                <a:latin typeface="Arial"/>
                <a:ea typeface="Arial"/>
                <a:cs typeface="Arial"/>
              </a:rPr>
              <a:t>−0.161</a:t>
            </a:r>
          </a:p>
        </p:txBody>
      </p:sp>
      <p:sp>
        <p:nvSpPr>
          <p:cNvPr id="10" name="text-119">
            <a:extLst xmlns:a="http://schemas.openxmlformats.org/drawingml/2006/main">
              <a:ext uri="{FF2B5EF4-FFF2-40B4-BE49-F238E27FC236}">
                <a16:creationId xmlns:a16="http://schemas.microsoft.com/office/drawing/2014/main" id="{89FEE392-0715-4655-A6D6-1CE1DA466385}"/>
              </a:ext>
            </a:extLst>
          </p:cNvPr>
          <p:cNvSpPr>
            <a:spLocks xmlns:a="http://schemas.openxmlformats.org/drawingml/2006/main" noGrp="1"/>
          </p:cNvSpPr>
          <p:nvPr/>
        </p:nvSpPr>
        <p:spPr>
          <a:xfrm xmlns:a="http://schemas.openxmlformats.org/drawingml/2006/main">
            <a:off x="8953500" y="4962525"/>
            <a:ext cx="2628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Post-launch only</a:t>
            </a:r>
          </a:p>
        </p:txBody>
      </p:sp>
      <p:sp>
        <p:nvSpPr>
          <p:cNvPr id="11" name="text-120">
            <a:extLst xmlns:a="http://schemas.openxmlformats.org/drawingml/2006/main">
              <a:ext uri="{FF2B5EF4-FFF2-40B4-BE49-F238E27FC236}">
                <a16:creationId xmlns:a16="http://schemas.microsoft.com/office/drawing/2014/main" id="{6DADBF96-30E6-4A3B-A472-AF300B85D4C1}"/>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Random forest CV R². The target is log-transformed lag; zero is the mean benchmark.</a:t>
            </a:r>
          </a:p>
        </p:txBody>
      </p:sp>
    </p:spTree>
    <p:extLst>
      <p:ext uri="{BB962C8B-B14F-4D97-AF65-F5344CB8AC3E}">
        <p14:creationId xmlns:p14="http://schemas.microsoft.com/office/powerpoint/2010/main" val="948490857"/>
      </p:ext>
    </p:extLst>
  </p:cSld>
</p:sld>
</file>

<file path=ppt/slides/slide10.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0" name="text-121">
            <a:extLst xmlns:a="http://schemas.openxmlformats.org/drawingml/2006/main">
              <a:ext uri="{FF2B5EF4-FFF2-40B4-BE49-F238E27FC236}">
                <a16:creationId xmlns:a16="http://schemas.microsoft.com/office/drawing/2014/main" id="{E565695A-C1A2-4EF3-84E5-197FA81D3B16}"/>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Q2: a modest ransomware signal</a:t>
            </a:r>
          </a:p>
        </p:txBody>
      </p:sp>
      <p:sp>
        <p:nvSpPr>
          <p:cNvPr id="2" name="text-122">
            <a:extLst xmlns:a="http://schemas.openxmlformats.org/drawingml/2006/main">
              <a:ext uri="{FF2B5EF4-FFF2-40B4-BE49-F238E27FC236}">
                <a16:creationId xmlns:a16="http://schemas.microsoft.com/office/drawing/2014/main" id="{5C4D3779-B919-4556-A3FD-2198198D675E}"/>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10</a:t>
            </a:r>
          </a:p>
        </p:txBody>
      </p:sp>
      <p:sp>
        <p:nvSpPr>
          <p:cNvPr id="3" name="shape-123">
            <a:extLst xmlns:a="http://schemas.openxmlformats.org/drawingml/2006/main">
              <a:ext uri="{FF2B5EF4-FFF2-40B4-BE49-F238E27FC236}">
                <a16:creationId xmlns:a16="http://schemas.microsoft.com/office/drawing/2014/main" id="{AC78CA0A-E312-441C-98FC-38F917DCF83A}"/>
              </a:ext>
            </a:extLst>
          </p:cNvPr>
          <p:cNvSpPr>
            <a:spLocks xmlns:a="http://schemas.openxmlformats.org/drawingml/2006/main" noGrp="1"/>
          </p:cNvSpPr>
          <p:nvPr/>
        </p:nvSpPr>
        <p:spPr>
          <a:xfrm xmlns:a="http://schemas.openxmlformats.org/drawingml/2006/main">
            <a:off x="609600" y="1257300"/>
            <a:ext cx="3905250" cy="552450"/>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4" name="text-124">
            <a:extLst xmlns:a="http://schemas.openxmlformats.org/drawingml/2006/main">
              <a:ext uri="{FF2B5EF4-FFF2-40B4-BE49-F238E27FC236}">
                <a16:creationId xmlns:a16="http://schemas.microsoft.com/office/drawing/2014/main" id="{6231FC82-DC38-40CA-A1D7-4077F0EAA47F}"/>
              </a:ext>
            </a:extLst>
          </p:cNvPr>
          <p:cNvSpPr>
            <a:spLocks xmlns:a="http://schemas.openxmlformats.org/drawingml/2006/main" noGrp="1"/>
          </p:cNvSpPr>
          <p:nvPr/>
        </p:nvSpPr>
        <p:spPr>
          <a:xfrm xmlns:a="http://schemas.openxmlformats.org/drawingml/2006/main">
            <a:off x="800100" y="1370838"/>
            <a:ext cx="35242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F3F0EE"/>
                </a:solidFill>
                <a:latin typeface="Arial"/>
                <a:ea typeface="Arial"/>
                <a:cs typeface="Arial"/>
              </a:defRPr>
            </a:defPPr>
          </a:lstStyle>
          <a:p xmlns:a="http://schemas.openxmlformats.org/drawingml/2006/main">
            <a:pPr algn="ctr">
              <a:defRPr sz="2100" b="0">
                <a:solidFill>
                  <a:srgbClr val="F3F0EE"/>
                </a:solidFill>
                <a:latin typeface="Arial"/>
                <a:ea typeface="Arial"/>
                <a:cs typeface="Arial"/>
              </a:defRPr>
            </a:pPr>
            <a:r>
              <a:rPr sz="2100" b="0">
                <a:solidFill>
                  <a:srgbClr val="F3F0EE"/>
                </a:solidFill>
                <a:latin typeface="Arial"/>
                <a:ea typeface="Arial"/>
                <a:cs typeface="Arial"/>
              </a:rPr>
              <a:t>RF ROC-AUC 0.724</a:t>
            </a:r>
          </a:p>
        </p:txBody>
      </p:sp>
      <p:sp>
        <p:nvSpPr>
          <p:cNvPr id="5" name="text-125">
            <a:extLst xmlns:a="http://schemas.openxmlformats.org/drawingml/2006/main">
              <a:ext uri="{FF2B5EF4-FFF2-40B4-BE49-F238E27FC236}">
                <a16:creationId xmlns:a16="http://schemas.microsoft.com/office/drawing/2014/main" id="{1E5952DF-FC14-475F-BF87-66597BE61C80}"/>
              </a:ext>
            </a:extLst>
          </p:cNvPr>
          <p:cNvSpPr>
            <a:spLocks xmlns:a="http://schemas.openxmlformats.org/drawingml/2006/main" noGrp="1"/>
          </p:cNvSpPr>
          <p:nvPr/>
        </p:nvSpPr>
        <p:spPr>
          <a:xfrm xmlns:a="http://schemas.openxmlformats.org/drawingml/2006/main">
            <a:off x="4953000" y="1371600"/>
            <a:ext cx="6629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1413"/>
                </a:solidFill>
                <a:latin typeface="Arial"/>
                <a:ea typeface="Arial"/>
                <a:cs typeface="Arial"/>
              </a:defRPr>
            </a:defPPr>
          </a:lstStyle>
          <a:p xmlns:a="http://schemas.openxmlformats.org/drawingml/2006/main">
            <a:pPr algn="l">
              <a:defRPr sz="2175" b="0">
                <a:solidFill>
                  <a:srgbClr val="141413"/>
                </a:solidFill>
                <a:latin typeface="Arial"/>
                <a:ea typeface="Arial"/>
                <a:cs typeface="Arial"/>
              </a:defRPr>
            </a:pPr>
            <a:r>
              <a:rPr sz="2175" b="0">
                <a:solidFill>
                  <a:srgbClr val="141413"/>
                </a:solidFill>
                <a:latin typeface="Arial"/>
                <a:ea typeface="Arial"/>
                <a:cs typeface="Arial"/>
              </a:rPr>
              <a:t>AP 0.406 vs 0.208 base rate</a:t>
            </a:r>
          </a:p>
        </p:txBody>
      </p:sp>
      <p:sp>
        <p:nvSpPr>
          <p:cNvPr id="6" name="shape-126">
            <a:extLst xmlns:a="http://schemas.openxmlformats.org/drawingml/2006/main">
              <a:ext uri="{FF2B5EF4-FFF2-40B4-BE49-F238E27FC236}">
                <a16:creationId xmlns:a16="http://schemas.microsoft.com/office/drawing/2014/main" id="{D2D1BBA9-FB05-4C2A-BD06-C729201F125D}"/>
              </a:ext>
            </a:extLst>
          </p:cNvPr>
          <p:cNvSpPr>
            <a:spLocks xmlns:a="http://schemas.openxmlformats.org/drawingml/2006/main" noGrp="1"/>
          </p:cNvSpPr>
          <p:nvPr/>
        </p:nvSpPr>
        <p:spPr>
          <a:xfrm xmlns:a="http://schemas.openxmlformats.org/drawingml/2006/main">
            <a:off x="457200" y="2057400"/>
            <a:ext cx="11277600" cy="3200400"/>
          </a:xfrm>
          <a:prstGeom xmlns:a="http://schemas.openxmlformats.org/drawingml/2006/main" prst="roundRect">
            <a:avLst>
              <a:gd name="adj" fmla="val 11905"/>
            </a:avLst>
          </a:prstGeom>
          <a:solidFill xmlns:a="http://schemas.openxmlformats.org/drawingml/2006/main">
            <a:srgbClr val="FCFBFA"/>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3B2D210-D482-4D4A-96CD-0C79FB3193F3}"/>
              </a:ext>
            </a:extLst>
          </p:cNvPr>
          <p:cNvPicPr>
            <a:picLocks xmlns:a="http://schemas.openxmlformats.org/drawingml/2006/main" noChangeAspect="1"/>
          </p:cNvPicPr>
          <p:nvPr/>
        </p:nvPicPr>
        <p:blipFill>
          <a:blip xmlns:r="http://schemas.openxmlformats.org/officeDocument/2006/relationships" xmlns:a="http://schemas.openxmlformats.org/drawingml/2006/main" r:embed="R717629f6f45d490f"/>
          <a:stretch xmlns:a="http://schemas.openxmlformats.org/drawingml/2006/main"/>
        </p:blipFill>
        <p:spPr>
          <a:xfrm xmlns:a="http://schemas.openxmlformats.org/drawingml/2006/main">
            <a:off x="649022" y="2124075"/>
            <a:ext cx="10893957" cy="305752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93DC7C35-D004-4E94-A663-9ECC6E69061E}"/>
              </a:ext>
            </a:extLst>
          </p:cNvPr>
          <p:cNvGraphicFramePr/>
          <p:nvPr/>
        </p:nvGraphicFramePr>
        <p:xfrm>
          <a:off xmlns:a="http://schemas.openxmlformats.org/drawingml/2006/main" x="609600" y="5343525"/>
          <a:ext xmlns:a="http://schemas.openxmlformats.org/drawingml/2006/main" cx="10972800" cy="895350"/>
        </p:xfrm>
        <a:graphic xmlns:a="http://schemas.openxmlformats.org/drawingml/2006/main">
          <a:graphicData uri="http://schemas.openxmlformats.org/drawingml/2006/table">
            <a:tbl>
              <a:tblPr/>
              <a:tblGrid>
                <a:gridCol w="3219450"/>
                <a:gridCol w="2209800"/>
                <a:gridCol w="2876550"/>
                <a:gridCol w="2667000"/>
              </a:tblGrid>
              <a:tr h="298450">
                <a:tc>
                  <a:txBody>
                    <a:bodyPr/>
                    <a:lstStyle/>
                    <a:p>
                      <a:r>
                        <a:rPr sz="1500" b="1">
                          <a:solidFill>
                            <a:srgbClr val="F3F0EE"/>
                          </a:solidFill>
                          <a:latin typeface="Arial"/>
                          <a:ea typeface="Arial"/>
                          <a:cs typeface="Arial"/>
                        </a:rPr>
                        <a:t>Model</a:t>
                      </a:r>
                    </a:p>
                  </a:txBody>
                  <a:tcPr marL="123825" marR="95250" marT="28575" marB="28575" anchor="ctr">
                    <a:solidFill>
                      <a:srgbClr val="141413"/>
                    </a:solidFill>
                  </a:tcPr>
                </a:tc>
                <a:tc>
                  <a:txBody>
                    <a:bodyPr/>
                    <a:lstStyle/>
                    <a:p>
                      <a:r>
                        <a:rPr sz="1500" b="1">
                          <a:solidFill>
                            <a:srgbClr val="F3F0EE"/>
                          </a:solidFill>
                          <a:latin typeface="Arial"/>
                          <a:ea typeface="Arial"/>
                          <a:cs typeface="Arial"/>
                        </a:rPr>
                        <a:t>ROC-AUC</a:t>
                      </a:r>
                    </a:p>
                  </a:txBody>
                  <a:tcPr marL="123825" marR="95250" marT="28575" marB="28575" anchor="ctr">
                    <a:solidFill>
                      <a:srgbClr val="141413"/>
                    </a:solidFill>
                  </a:tcPr>
                </a:tc>
                <a:tc>
                  <a:txBody>
                    <a:bodyPr/>
                    <a:lstStyle/>
                    <a:p>
                      <a:r>
                        <a:rPr sz="1500" b="1">
                          <a:solidFill>
                            <a:srgbClr val="F3F0EE"/>
                          </a:solidFill>
                          <a:latin typeface="Arial"/>
                          <a:ea typeface="Arial"/>
                          <a:cs typeface="Arial"/>
                        </a:rPr>
                        <a:t>Average precision</a:t>
                      </a:r>
                    </a:p>
                  </a:txBody>
                  <a:tcPr marL="123825" marR="95250" marT="28575" marB="28575" anchor="ctr">
                    <a:solidFill>
                      <a:srgbClr val="141413"/>
                    </a:solidFill>
                  </a:tcPr>
                </a:tc>
                <a:tc>
                  <a:txBody>
                    <a:bodyPr/>
                    <a:lstStyle/>
                    <a:p>
                      <a:r>
                        <a:rPr sz="1500" b="1">
                          <a:solidFill>
                            <a:srgbClr val="F3F0EE"/>
                          </a:solidFill>
                          <a:latin typeface="Arial"/>
                          <a:ea typeface="Arial"/>
                          <a:cs typeface="Arial"/>
                        </a:rPr>
                        <a:t>Recall at 0.5</a:t>
                      </a:r>
                    </a:p>
                  </a:txBody>
                  <a:tcPr marL="123825" marR="95250" marT="28575" marB="28575" anchor="ctr">
                    <a:solidFill>
                      <a:srgbClr val="141413"/>
                    </a:solidFill>
                  </a:tcPr>
                </a:tc>
              </a:tr>
              <a:tr h="298450">
                <a:tc>
                  <a:txBody>
                    <a:bodyPr/>
                    <a:lstStyle/>
                    <a:p>
                      <a:r>
                        <a:rPr sz="1500">
                          <a:solidFill>
                            <a:srgbClr val="141413"/>
                          </a:solidFill>
                          <a:latin typeface="Arial"/>
                          <a:ea typeface="Arial"/>
                          <a:cs typeface="Arial"/>
                        </a:rPr>
                        <a:t>Random forest</a:t>
                      </a:r>
                    </a:p>
                  </a:txBody>
                  <a:tcPr marL="123825" marR="95250" marT="28575" marB="28575" anchor="ctr">
                    <a:solidFill>
                      <a:srgbClr val="FCFBFA"/>
                    </a:solidFill>
                  </a:tcPr>
                </a:tc>
                <a:tc>
                  <a:txBody>
                    <a:bodyPr/>
                    <a:lstStyle/>
                    <a:p>
                      <a:r>
                        <a:rPr sz="1500">
                          <a:solidFill>
                            <a:srgbClr val="141413"/>
                          </a:solidFill>
                          <a:latin typeface="Arial"/>
                          <a:ea typeface="Arial"/>
                          <a:cs typeface="Arial"/>
                        </a:rPr>
                        <a:t>0.724</a:t>
                      </a:r>
                    </a:p>
                  </a:txBody>
                  <a:tcPr marL="123825" marR="95250" marT="28575" marB="28575" anchor="ctr">
                    <a:solidFill>
                      <a:srgbClr val="FCFBFA"/>
                    </a:solidFill>
                  </a:tcPr>
                </a:tc>
                <a:tc>
                  <a:txBody>
                    <a:bodyPr/>
                    <a:lstStyle/>
                    <a:p>
                      <a:r>
                        <a:rPr sz="1500">
                          <a:solidFill>
                            <a:srgbClr val="141413"/>
                          </a:solidFill>
                          <a:latin typeface="Arial"/>
                          <a:ea typeface="Arial"/>
                          <a:cs typeface="Arial"/>
                        </a:rPr>
                        <a:t>0.406</a:t>
                      </a:r>
                    </a:p>
                  </a:txBody>
                  <a:tcPr marL="123825" marR="95250" marT="28575" marB="28575" anchor="ctr">
                    <a:solidFill>
                      <a:srgbClr val="FCFBFA"/>
                    </a:solidFill>
                  </a:tcPr>
                </a:tc>
                <a:tc>
                  <a:txBody>
                    <a:bodyPr/>
                    <a:lstStyle/>
                    <a:p>
                      <a:r>
                        <a:rPr sz="1500">
                          <a:solidFill>
                            <a:srgbClr val="141413"/>
                          </a:solidFill>
                          <a:latin typeface="Arial"/>
                          <a:ea typeface="Arial"/>
                          <a:cs typeface="Arial"/>
                        </a:rPr>
                        <a:t>0.171</a:t>
                      </a:r>
                    </a:p>
                  </a:txBody>
                  <a:tcPr marL="123825" marR="95250" marT="28575" marB="28575" anchor="ctr">
                    <a:solidFill>
                      <a:srgbClr val="FCFBFA"/>
                    </a:solidFill>
                  </a:tcPr>
                </a:tc>
              </a:tr>
              <a:tr h="298450">
                <a:tc>
                  <a:txBody>
                    <a:bodyPr/>
                    <a:lstStyle/>
                    <a:p>
                      <a:r>
                        <a:rPr sz="1500">
                          <a:solidFill>
                            <a:srgbClr val="141413"/>
                          </a:solidFill>
                          <a:latin typeface="Arial"/>
                          <a:ea typeface="Arial"/>
                          <a:cs typeface="Arial"/>
                        </a:rPr>
                        <a:t>Logistic regression</a:t>
                      </a:r>
                    </a:p>
                  </a:txBody>
                  <a:tcPr marL="123825" marR="95250" marT="28575" marB="28575" anchor="ctr">
                    <a:solidFill>
                      <a:srgbClr val="FCFBFA"/>
                    </a:solidFill>
                  </a:tcPr>
                </a:tc>
                <a:tc>
                  <a:txBody>
                    <a:bodyPr/>
                    <a:lstStyle/>
                    <a:p>
                      <a:r>
                        <a:rPr sz="1500">
                          <a:solidFill>
                            <a:srgbClr val="141413"/>
                          </a:solidFill>
                          <a:latin typeface="Arial"/>
                          <a:ea typeface="Arial"/>
                          <a:cs typeface="Arial"/>
                        </a:rPr>
                        <a:t>0.644</a:t>
                      </a:r>
                    </a:p>
                  </a:txBody>
                  <a:tcPr marL="123825" marR="95250" marT="28575" marB="28575" anchor="ctr">
                    <a:solidFill>
                      <a:srgbClr val="FCFBFA"/>
                    </a:solidFill>
                  </a:tcPr>
                </a:tc>
                <a:tc>
                  <a:txBody>
                    <a:bodyPr/>
                    <a:lstStyle/>
                    <a:p>
                      <a:r>
                        <a:rPr sz="1500">
                          <a:solidFill>
                            <a:srgbClr val="141413"/>
                          </a:solidFill>
                          <a:latin typeface="Arial"/>
                          <a:ea typeface="Arial"/>
                          <a:cs typeface="Arial"/>
                        </a:rPr>
                        <a:t>0.343</a:t>
                      </a:r>
                    </a:p>
                  </a:txBody>
                  <a:tcPr marL="123825" marR="95250" marT="28575" marB="28575" anchor="ctr">
                    <a:solidFill>
                      <a:srgbClr val="FCFBFA"/>
                    </a:solidFill>
                  </a:tcPr>
                </a:tc>
                <a:tc>
                  <a:txBody>
                    <a:bodyPr/>
                    <a:lstStyle/>
                    <a:p>
                      <a:r>
                        <a:rPr sz="1500">
                          <a:solidFill>
                            <a:srgbClr val="141413"/>
                          </a:solidFill>
                          <a:latin typeface="Arial"/>
                          <a:ea typeface="Arial"/>
                          <a:cs typeface="Arial"/>
                        </a:rPr>
                        <a:t>0.600</a:t>
                      </a:r>
                    </a:p>
                  </a:txBody>
                  <a:tcPr marL="123825" marR="95250" marT="28575" marB="28575" anchor="ctr">
                    <a:solidFill>
                      <a:srgbClr val="FCFBFA"/>
                    </a:solidFill>
                  </a:tcPr>
                </a:tc>
              </a:tr>
            </a:tbl>
          </a:graphicData>
        </a:graphic>
      </p:graphicFrame>
      <p:sp>
        <p:nvSpPr>
          <p:cNvPr id="9" name="text-127">
            <a:extLst xmlns:a="http://schemas.openxmlformats.org/drawingml/2006/main">
              <a:ext uri="{FF2B5EF4-FFF2-40B4-BE49-F238E27FC236}">
                <a16:creationId xmlns:a16="http://schemas.microsoft.com/office/drawing/2014/main" id="{25CAD82F-16CA-4D7C-A29D-819B8EAB6348}"/>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RF accuracy 78.8% is below the 79.4% all-negative test-set baseline.</a:t>
            </a:r>
          </a:p>
        </p:txBody>
      </p:sp>
    </p:spTree>
    <p:extLst>
      <p:ext uri="{BB962C8B-B14F-4D97-AF65-F5344CB8AC3E}">
        <p14:creationId xmlns:p14="http://schemas.microsoft.com/office/powerpoint/2010/main" val="2068161591"/>
      </p:ext>
    </p:extLst>
  </p:cSld>
</p:sld>
</file>

<file path=ppt/slides/slide11.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9" name="text-128">
            <a:extLst xmlns:a="http://schemas.openxmlformats.org/drawingml/2006/main">
              <a:ext uri="{FF2B5EF4-FFF2-40B4-BE49-F238E27FC236}">
                <a16:creationId xmlns:a16="http://schemas.microsoft.com/office/drawing/2014/main" id="{BE20D012-7DC9-4682-B3FD-EADC5281F484}"/>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What drives the classifier</a:t>
            </a:r>
          </a:p>
        </p:txBody>
      </p:sp>
      <p:sp>
        <p:nvSpPr>
          <p:cNvPr id="2" name="text-129">
            <a:extLst xmlns:a="http://schemas.openxmlformats.org/drawingml/2006/main">
              <a:ext uri="{FF2B5EF4-FFF2-40B4-BE49-F238E27FC236}">
                <a16:creationId xmlns:a16="http://schemas.microsoft.com/office/drawing/2014/main" id="{83074EFE-EDFB-4FD4-B23D-ACF26D884139}"/>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11</a:t>
            </a:r>
          </a:p>
        </p:txBody>
      </p:sp>
      <p:sp>
        <p:nvSpPr>
          <p:cNvPr id="3" name="shape-130">
            <a:extLst xmlns:a="http://schemas.openxmlformats.org/drawingml/2006/main">
              <a:ext uri="{FF2B5EF4-FFF2-40B4-BE49-F238E27FC236}">
                <a16:creationId xmlns:a16="http://schemas.microsoft.com/office/drawing/2014/main" id="{0CEA4437-7FD1-47FE-814D-01B6C1035B87}"/>
              </a:ext>
            </a:extLst>
          </p:cNvPr>
          <p:cNvSpPr>
            <a:spLocks xmlns:a="http://schemas.openxmlformats.org/drawingml/2006/main" noGrp="1"/>
          </p:cNvSpPr>
          <p:nvPr/>
        </p:nvSpPr>
        <p:spPr>
          <a:xfrm xmlns:a="http://schemas.openxmlformats.org/drawingml/2006/main">
            <a:off x="609600" y="1552575"/>
            <a:ext cx="7162800" cy="4533900"/>
          </a:xfrm>
          <a:prstGeom xmlns:a="http://schemas.openxmlformats.org/drawingml/2006/main" prst="roundRect">
            <a:avLst>
              <a:gd name="adj" fmla="val 8403"/>
            </a:avLst>
          </a:prstGeom>
          <a:solidFill xmlns:a="http://schemas.openxmlformats.org/drawingml/2006/main">
            <a:srgbClr val="FCFBFA"/>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5CEF805-F307-4C1C-A51B-B268B68DB0D7}"/>
              </a:ext>
            </a:extLst>
          </p:cNvPr>
          <p:cNvPicPr>
            <a:picLocks xmlns:a="http://schemas.openxmlformats.org/drawingml/2006/main" noChangeAspect="1"/>
          </p:cNvPicPr>
          <p:nvPr/>
        </p:nvPicPr>
        <p:blipFill>
          <a:blip xmlns:r="http://schemas.openxmlformats.org/officeDocument/2006/relationships" xmlns:a="http://schemas.openxmlformats.org/drawingml/2006/main" r:embed="Rbc9eb63f3c2c4c36"/>
          <a:stretch xmlns:a="http://schemas.openxmlformats.org/drawingml/2006/main"/>
        </p:blipFill>
        <p:spPr>
          <a:xfrm xmlns:a="http://schemas.openxmlformats.org/drawingml/2006/main">
            <a:off x="954864" y="1704975"/>
            <a:ext cx="6472272" cy="4229100"/>
          </a:xfrm>
          <a:prstGeom xmlns:a="http://schemas.openxmlformats.org/drawingml/2006/main" prst="rect">
            <a:avLst/>
          </a:prstGeom>
        </p:spPr>
      </p:pic>
      <p:sp>
        <p:nvSpPr>
          <p:cNvPr id="5" name="text-131">
            <a:extLst xmlns:a="http://schemas.openxmlformats.org/drawingml/2006/main">
              <a:ext uri="{FF2B5EF4-FFF2-40B4-BE49-F238E27FC236}">
                <a16:creationId xmlns:a16="http://schemas.microsoft.com/office/drawing/2014/main" id="{48CA68DE-2805-4DCD-94B4-818E921958D5}"/>
              </a:ext>
            </a:extLst>
          </p:cNvPr>
          <p:cNvSpPr>
            <a:spLocks xmlns:a="http://schemas.openxmlformats.org/drawingml/2006/main" noGrp="1"/>
          </p:cNvSpPr>
          <p:nvPr/>
        </p:nvSpPr>
        <p:spPr>
          <a:xfrm xmlns:a="http://schemas.openxmlformats.org/drawingml/2006/main">
            <a:off x="8258175" y="1876425"/>
            <a:ext cx="33242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41413"/>
                </a:solidFill>
                <a:latin typeface="Arial"/>
                <a:ea typeface="Arial"/>
                <a:cs typeface="Arial"/>
              </a:defRPr>
            </a:defPPr>
          </a:lstStyle>
          <a:p xmlns:a="http://schemas.openxmlformats.org/drawingml/2006/main">
            <a:pPr algn="l">
              <a:defRPr sz="2475" b="0">
                <a:solidFill>
                  <a:srgbClr val="141413"/>
                </a:solidFill>
                <a:latin typeface="Arial"/>
                <a:ea typeface="Arial"/>
                <a:cs typeface="Arial"/>
              </a:defRPr>
            </a:pPr>
            <a:r>
              <a:rPr sz="2475" b="0">
                <a:solidFill>
                  <a:srgbClr val="141413"/>
                </a:solidFill>
                <a:latin typeface="Arial"/>
                <a:ea typeface="Arial"/>
                <a:cs typeface="Arial"/>
              </a:rPr>
              <a:t>Description length</a:t>
            </a:r>
          </a:p>
          <a:p xmlns:a="http://schemas.openxmlformats.org/drawingml/2006/main">
            <a:pPr algn="l">
              <a:defRPr sz="2475" b="0">
                <a:solidFill>
                  <a:srgbClr val="141413"/>
                </a:solidFill>
                <a:latin typeface="Arial"/>
                <a:ea typeface="Arial"/>
                <a:cs typeface="Arial"/>
              </a:defRPr>
            </a:pPr>
            <a:r>
              <a:rPr sz="2475" b="0">
                <a:solidFill>
                  <a:srgbClr val="141413"/>
                </a:solidFill>
                <a:latin typeface="Arial"/>
                <a:ea typeface="Arial"/>
                <a:cs typeface="Arial"/>
              </a:rPr>
              <a:t>Reference count</a:t>
            </a:r>
          </a:p>
          <a:p xmlns:a="http://schemas.openxmlformats.org/drawingml/2006/main">
            <a:pPr algn="l">
              <a:defRPr sz="2475" b="0">
                <a:solidFill>
                  <a:srgbClr val="141413"/>
                </a:solidFill>
                <a:latin typeface="Arial"/>
                <a:ea typeface="Arial"/>
                <a:cs typeface="Arial"/>
              </a:defRPr>
            </a:pPr>
            <a:r>
              <a:rPr sz="2475" b="0">
                <a:solidFill>
                  <a:srgbClr val="141413"/>
                </a:solidFill>
                <a:latin typeface="Arial"/>
                <a:ea typeface="Arial"/>
                <a:cs typeface="Arial"/>
              </a:rPr>
              <a:t>CVSS score</a:t>
            </a:r>
          </a:p>
        </p:txBody>
      </p:sp>
      <p:sp>
        <p:nvSpPr>
          <p:cNvPr id="6" name="text-132">
            <a:extLst xmlns:a="http://schemas.openxmlformats.org/drawingml/2006/main">
              <a:ext uri="{FF2B5EF4-FFF2-40B4-BE49-F238E27FC236}">
                <a16:creationId xmlns:a16="http://schemas.microsoft.com/office/drawing/2014/main" id="{21B735A5-738E-49D7-96F1-C3629C5CEC4D}"/>
              </a:ext>
            </a:extLst>
          </p:cNvPr>
          <p:cNvSpPr>
            <a:spLocks xmlns:a="http://schemas.openxmlformats.org/drawingml/2006/main" noGrp="1"/>
          </p:cNvSpPr>
          <p:nvPr/>
        </p:nvSpPr>
        <p:spPr>
          <a:xfrm xmlns:a="http://schemas.openxmlformats.org/drawingml/2006/main">
            <a:off x="8258175" y="38481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Severity is not dominant.</a:t>
            </a:r>
          </a:p>
        </p:txBody>
      </p:sp>
      <p:sp>
        <p:nvSpPr>
          <p:cNvPr id="7" name="text-133">
            <a:extLst xmlns:a="http://schemas.openxmlformats.org/drawingml/2006/main">
              <a:ext uri="{FF2B5EF4-FFF2-40B4-BE49-F238E27FC236}">
                <a16:creationId xmlns:a16="http://schemas.microsoft.com/office/drawing/2014/main" id="{528301B4-67D4-439C-9B4D-68A3FDBE0372}"/>
              </a:ext>
            </a:extLst>
          </p:cNvPr>
          <p:cNvSpPr>
            <a:spLocks xmlns:a="http://schemas.openxmlformats.org/drawingml/2006/main" noGrp="1"/>
          </p:cNvSpPr>
          <p:nvPr/>
        </p:nvSpPr>
        <p:spPr>
          <a:xfrm xmlns:a="http://schemas.openxmlformats.org/drawingml/2006/main">
            <a:off x="8258175" y="4962525"/>
            <a:ext cx="33242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96969"/>
                </a:solidFill>
                <a:latin typeface="Arial"/>
                <a:ea typeface="Arial"/>
                <a:cs typeface="Arial"/>
              </a:defRPr>
            </a:defPPr>
          </a:lstStyle>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These are associations,</a:t>
            </a:r>
          </a:p>
          <a:p xmlns:a="http://schemas.openxmlformats.org/drawingml/2006/main">
            <a:pPr algn="l">
              <a:defRPr sz="1875" b="0">
                <a:solidFill>
                  <a:srgbClr val="696969"/>
                </a:solidFill>
                <a:latin typeface="Arial"/>
                <a:ea typeface="Arial"/>
                <a:cs typeface="Arial"/>
              </a:defRPr>
            </a:pPr>
            <a:r>
              <a:rPr sz="1875" b="0">
                <a:solidFill>
                  <a:srgbClr val="696969"/>
                </a:solidFill>
                <a:latin typeface="Arial"/>
                <a:ea typeface="Arial"/>
                <a:cs typeface="Arial"/>
              </a:rPr>
              <a:t>not causal drivers.</a:t>
            </a:r>
          </a:p>
        </p:txBody>
      </p:sp>
      <p:sp>
        <p:nvSpPr>
          <p:cNvPr id="8" name="text-134">
            <a:extLst xmlns:a="http://schemas.openxmlformats.org/drawingml/2006/main">
              <a:ext uri="{FF2B5EF4-FFF2-40B4-BE49-F238E27FC236}">
                <a16:creationId xmlns:a16="http://schemas.microsoft.com/office/drawing/2014/main" id="{89995B06-E494-4096-8866-4110D4D8F09B}"/>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Impurity importance favours continuous features; snapshot metadata may post-date adoption.</a:t>
            </a:r>
          </a:p>
        </p:txBody>
      </p:sp>
    </p:spTree>
    <p:extLst>
      <p:ext uri="{BB962C8B-B14F-4D97-AF65-F5344CB8AC3E}">
        <p14:creationId xmlns:p14="http://schemas.microsoft.com/office/powerpoint/2010/main" val="416030389"/>
      </p:ext>
    </p:extLst>
  </p:cSld>
</p:sld>
</file>

<file path=ppt/slides/slide12.xml><?xml version="1.0" encoding="utf-8"?>
<p:sld xmlns:p="http://schemas.openxmlformats.org/presentationml/2006/main">
  <p:cSld>
    <p:bg>
      <p:bgPr>
        <a:solidFill xmlns:a="http://schemas.openxmlformats.org/drawingml/2006/main">
          <a:srgbClr val="F3F0EE"/>
        </a:solidFill>
      </p:bgPr>
    </p:bg>
    <p:spTree>
      <p:nvGrpSpPr>
        <p:cNvPr id="1" name=""/>
        <p:cNvGrpSpPr/>
        <p:nvPr/>
      </p:nvGrpSpPr>
      <p:grpSpPr>
        <a:xfrm xmlns:a="http://schemas.openxmlformats.org/drawingml/2006/main"/>
      </p:grpSpPr>
      <p:sp>
        <p:nvSpPr>
          <p:cNvPr id="14" name="text-135">
            <a:extLst xmlns:a="http://schemas.openxmlformats.org/drawingml/2006/main">
              <a:ext uri="{FF2B5EF4-FFF2-40B4-BE49-F238E27FC236}">
                <a16:creationId xmlns:a16="http://schemas.microsoft.com/office/drawing/2014/main" id="{74757D08-8E28-46C4-96E3-2F98CC958616}"/>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41413"/>
                </a:solidFill>
                <a:latin typeface="Arial"/>
                <a:ea typeface="Arial"/>
                <a:cs typeface="Arial"/>
              </a:defRPr>
            </a:defPPr>
          </a:lstStyle>
          <a:p xmlns:a="http://schemas.openxmlformats.org/drawingml/2006/main">
            <a:pPr algn="l">
              <a:defRPr sz="3300" b="0">
                <a:solidFill>
                  <a:srgbClr val="141413"/>
                </a:solidFill>
                <a:latin typeface="Arial"/>
                <a:ea typeface="Arial"/>
                <a:cs typeface="Arial"/>
              </a:defRPr>
            </a:pPr>
            <a:r>
              <a:rPr sz="3300" b="0">
                <a:solidFill>
                  <a:srgbClr val="141413"/>
                </a:solidFill>
                <a:latin typeface="Arial"/>
                <a:ea typeface="Arial"/>
                <a:cs typeface="Arial"/>
              </a:rPr>
              <a:t>Conclusions and limitations</a:t>
            </a:r>
          </a:p>
        </p:txBody>
      </p:sp>
      <p:sp>
        <p:nvSpPr>
          <p:cNvPr id="2" name="text-136">
            <a:extLst xmlns:a="http://schemas.openxmlformats.org/drawingml/2006/main">
              <a:ext uri="{FF2B5EF4-FFF2-40B4-BE49-F238E27FC236}">
                <a16:creationId xmlns:a16="http://schemas.microsoft.com/office/drawing/2014/main" id="{4F23DD9C-AEA7-4A23-9FA0-276CA563860A}"/>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96969"/>
                </a:solidFill>
                <a:latin typeface="Arial"/>
                <a:ea typeface="Arial"/>
                <a:cs typeface="Arial"/>
              </a:defRPr>
            </a:defPPr>
          </a:lstStyle>
          <a:p xmlns:a="http://schemas.openxmlformats.org/drawingml/2006/main">
            <a:pPr algn="r">
              <a:defRPr sz="1275" b="0">
                <a:solidFill>
                  <a:srgbClr val="696969"/>
                </a:solidFill>
                <a:latin typeface="Arial"/>
                <a:ea typeface="Arial"/>
                <a:cs typeface="Arial"/>
              </a:defRPr>
            </a:pPr>
            <a:r>
              <a:rPr sz="1275" b="0">
                <a:solidFill>
                  <a:srgbClr val="696969"/>
                </a:solidFill>
                <a:latin typeface="Arial"/>
                <a:ea typeface="Arial"/>
                <a:cs typeface="Arial"/>
              </a:rPr>
              <a:t>12</a:t>
            </a:r>
          </a:p>
        </p:txBody>
      </p:sp>
      <p:sp>
        <p:nvSpPr>
          <p:cNvPr id="3" name="text-137">
            <a:extLst xmlns:a="http://schemas.openxmlformats.org/drawingml/2006/main">
              <a:ext uri="{FF2B5EF4-FFF2-40B4-BE49-F238E27FC236}">
                <a16:creationId xmlns:a16="http://schemas.microsoft.com/office/drawing/2014/main" id="{40387822-DDB1-483E-BF1B-D0CB01762112}"/>
              </a:ext>
            </a:extLst>
          </p:cNvPr>
          <p:cNvSpPr>
            <a:spLocks xmlns:a="http://schemas.openxmlformats.org/drawingml/2006/main" noGrp="1"/>
          </p:cNvSpPr>
          <p:nvPr/>
        </p:nvSpPr>
        <p:spPr>
          <a:xfrm xmlns:a="http://schemas.openxmlformats.org/drawingml/2006/main">
            <a:off x="609600" y="1619250"/>
            <a:ext cx="5295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1413"/>
                </a:solidFill>
                <a:latin typeface="Arial"/>
                <a:ea typeface="Arial"/>
                <a:cs typeface="Arial"/>
              </a:defRPr>
            </a:defPPr>
          </a:lstStyle>
          <a:p xmlns:a="http://schemas.openxmlformats.org/drawingml/2006/main">
            <a:pPr algn="l">
              <a:defRPr sz="2250" b="0">
                <a:solidFill>
                  <a:srgbClr val="141413"/>
                </a:solidFill>
                <a:latin typeface="Arial"/>
                <a:ea typeface="Arial"/>
                <a:cs typeface="Arial"/>
              </a:defRPr>
            </a:pPr>
            <a:r>
              <a:rPr sz="2250" b="0">
                <a:solidFill>
                  <a:srgbClr val="141413"/>
                </a:solidFill>
                <a:latin typeface="Arial"/>
                <a:ea typeface="Arial"/>
                <a:cs typeface="Arial"/>
              </a:rPr>
              <a:t>What the evidence supports</a:t>
            </a:r>
          </a:p>
        </p:txBody>
      </p:sp>
      <p:sp>
        <p:nvSpPr>
          <p:cNvPr id="4" name="shape-138">
            <a:extLst xmlns:a="http://schemas.openxmlformats.org/drawingml/2006/main">
              <a:ext uri="{FF2B5EF4-FFF2-40B4-BE49-F238E27FC236}">
                <a16:creationId xmlns:a16="http://schemas.microsoft.com/office/drawing/2014/main" id="{A935AC8E-4A22-451B-8438-093AF5E9809F}"/>
              </a:ext>
            </a:extLst>
          </p:cNvPr>
          <p:cNvSpPr>
            <a:spLocks xmlns:a="http://schemas.openxmlformats.org/drawingml/2006/main" noGrp="1"/>
          </p:cNvSpPr>
          <p:nvPr/>
        </p:nvSpPr>
        <p:spPr>
          <a:xfrm xmlns:a="http://schemas.openxmlformats.org/drawingml/2006/main">
            <a:off x="609600" y="2219325"/>
            <a:ext cx="5257800" cy="9525"/>
          </a:xfrm>
          <a:prstGeom xmlns:a="http://schemas.openxmlformats.org/drawingml/2006/main" prst="rect">
            <a:avLst/>
          </a:prstGeom>
          <a:solidFill xmlns:a="http://schemas.openxmlformats.org/drawingml/2006/main">
            <a:srgbClr val="D1CDC7"/>
          </a:solidFill>
          <a:ln xmlns:a="http://schemas.openxmlformats.org/drawingml/2006/main" w="0">
            <a:noFill/>
          </a:ln>
        </p:spPr>
      </p:sp>
      <p:sp>
        <p:nvSpPr>
          <p:cNvPr id="5" name="text-139">
            <a:extLst xmlns:a="http://schemas.openxmlformats.org/drawingml/2006/main">
              <a:ext uri="{FF2B5EF4-FFF2-40B4-BE49-F238E27FC236}">
                <a16:creationId xmlns:a16="http://schemas.microsoft.com/office/drawing/2014/main" id="{2EB2F5C0-3C68-48D0-A74A-2FEF83E298F2}"/>
              </a:ext>
            </a:extLst>
          </p:cNvPr>
          <p:cNvSpPr>
            <a:spLocks xmlns:a="http://schemas.openxmlformats.org/drawingml/2006/main" noGrp="1"/>
          </p:cNvSpPr>
          <p:nvPr/>
        </p:nvSpPr>
        <p:spPr>
          <a:xfrm xmlns:a="http://schemas.openxmlformats.org/drawingml/2006/main">
            <a:off x="609600" y="2609850"/>
            <a:ext cx="5295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141413"/>
                </a:solidFill>
                <a:latin typeface="Arial"/>
                <a:ea typeface="Arial"/>
                <a:cs typeface="Arial"/>
              </a:defRPr>
            </a:defPPr>
          </a:lstStyle>
          <a:p xmlns:a="http://schemas.openxmlformats.org/drawingml/2006/main">
            <a:pPr algn="l">
              <a:defRPr sz="2475" b="0">
                <a:solidFill>
                  <a:srgbClr val="141413"/>
                </a:solidFill>
                <a:latin typeface="Arial"/>
                <a:ea typeface="Arial"/>
                <a:cs typeface="Arial"/>
              </a:defRPr>
            </a:pPr>
            <a:r>
              <a:rPr sz="2475" b="0">
                <a:solidFill>
                  <a:srgbClr val="141413"/>
                </a:solidFill>
                <a:latin typeface="Arial"/>
                <a:ea typeface="Arial"/>
                <a:cs typeface="Arial"/>
              </a:rPr>
              <a:t>CVSS ≠ attacker behaviour</a:t>
            </a:r>
          </a:p>
        </p:txBody>
      </p:sp>
      <p:sp>
        <p:nvSpPr>
          <p:cNvPr id="6" name="text-140">
            <a:extLst xmlns:a="http://schemas.openxmlformats.org/drawingml/2006/main">
              <a:ext uri="{FF2B5EF4-FFF2-40B4-BE49-F238E27FC236}">
                <a16:creationId xmlns:a16="http://schemas.microsoft.com/office/drawing/2014/main" id="{C74A3583-EF06-47FC-A6D0-2F976B58CD12}"/>
              </a:ext>
            </a:extLst>
          </p:cNvPr>
          <p:cNvSpPr>
            <a:spLocks xmlns:a="http://schemas.openxmlformats.org/drawingml/2006/main" noGrp="1"/>
          </p:cNvSpPr>
          <p:nvPr/>
        </p:nvSpPr>
        <p:spPr>
          <a:xfrm xmlns:a="http://schemas.openxmlformats.org/drawingml/2006/main">
            <a:off x="609600" y="3429000"/>
            <a:ext cx="5295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41413"/>
                </a:solidFill>
                <a:latin typeface="Arial"/>
                <a:ea typeface="Arial"/>
                <a:cs typeface="Arial"/>
              </a:defRPr>
            </a:defPPr>
          </a:lstStyle>
          <a:p xmlns:a="http://schemas.openxmlformats.org/drawingml/2006/main">
            <a:pPr algn="l">
              <a:defRPr sz="2325" b="0">
                <a:solidFill>
                  <a:srgbClr val="141413"/>
                </a:solidFill>
                <a:latin typeface="Arial"/>
                <a:ea typeface="Arial"/>
                <a:cs typeface="Arial"/>
              </a:defRPr>
            </a:pPr>
            <a:r>
              <a:rPr sz="2325" b="0">
                <a:solidFill>
                  <a:srgbClr val="141413"/>
                </a:solidFill>
                <a:latin typeface="Arial"/>
                <a:ea typeface="Arial"/>
                <a:cs typeface="Arial"/>
              </a:rPr>
              <a:t>Automatability adds a small signal</a:t>
            </a:r>
          </a:p>
        </p:txBody>
      </p:sp>
      <p:sp>
        <p:nvSpPr>
          <p:cNvPr id="7" name="text-141">
            <a:extLst xmlns:a="http://schemas.openxmlformats.org/drawingml/2006/main">
              <a:ext uri="{FF2B5EF4-FFF2-40B4-BE49-F238E27FC236}">
                <a16:creationId xmlns:a16="http://schemas.microsoft.com/office/drawing/2014/main" id="{B0ED2BEF-1B42-4BBD-959E-88121F7A07FB}"/>
              </a:ext>
            </a:extLst>
          </p:cNvPr>
          <p:cNvSpPr>
            <a:spLocks xmlns:a="http://schemas.openxmlformats.org/drawingml/2006/main" noGrp="1"/>
          </p:cNvSpPr>
          <p:nvPr/>
        </p:nvSpPr>
        <p:spPr>
          <a:xfrm xmlns:a="http://schemas.openxmlformats.org/drawingml/2006/main">
            <a:off x="609600" y="44100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96969"/>
                </a:solidFill>
                <a:latin typeface="Arial"/>
                <a:ea typeface="Arial"/>
                <a:cs typeface="Arial"/>
              </a:defRPr>
            </a:defPPr>
          </a:lstStyle>
          <a:p xmlns:a="http://schemas.openxmlformats.org/drawingml/2006/main">
            <a:pPr algn="l">
              <a:defRPr sz="2100" b="0">
                <a:solidFill>
                  <a:srgbClr val="696969"/>
                </a:solidFill>
                <a:latin typeface="Arial"/>
                <a:ea typeface="Arial"/>
                <a:cs typeface="Arial"/>
              </a:defRPr>
            </a:pPr>
            <a:r>
              <a:rPr sz="2100" b="0">
                <a:solidFill>
                  <a:srgbClr val="696969"/>
                </a:solidFill>
                <a:latin typeface="Arial"/>
                <a:ea typeface="Arial"/>
                <a:cs typeface="Arial"/>
              </a:rPr>
              <a:t>Consistent with considering</a:t>
            </a:r>
          </a:p>
          <a:p xmlns:a="http://schemas.openxmlformats.org/drawingml/2006/main">
            <a:pPr algn="l">
              <a:defRPr sz="2100" b="0">
                <a:solidFill>
                  <a:srgbClr val="696969"/>
                </a:solidFill>
                <a:latin typeface="Arial"/>
                <a:ea typeface="Arial"/>
                <a:cs typeface="Arial"/>
              </a:defRPr>
            </a:pPr>
            <a:r>
              <a:rPr sz="2100" b="0">
                <a:solidFill>
                  <a:srgbClr val="696969"/>
                </a:solidFill>
                <a:latin typeface="Arial"/>
                <a:ea typeface="Arial"/>
                <a:cs typeface="Arial"/>
              </a:rPr>
              <a:t>SSVC and EPSS alongside severity</a:t>
            </a:r>
          </a:p>
        </p:txBody>
      </p:sp>
      <p:sp>
        <p:nvSpPr>
          <p:cNvPr id="8" name="text-142">
            <a:extLst xmlns:a="http://schemas.openxmlformats.org/drawingml/2006/main">
              <a:ext uri="{FF2B5EF4-FFF2-40B4-BE49-F238E27FC236}">
                <a16:creationId xmlns:a16="http://schemas.microsoft.com/office/drawing/2014/main" id="{BE94A6D9-D5AC-4F6C-8D49-6E7448259845}"/>
              </a:ext>
            </a:extLst>
          </p:cNvPr>
          <p:cNvSpPr>
            <a:spLocks xmlns:a="http://schemas.openxmlformats.org/drawingml/2006/main" noGrp="1"/>
          </p:cNvSpPr>
          <p:nvPr/>
        </p:nvSpPr>
        <p:spPr>
          <a:xfrm xmlns:a="http://schemas.openxmlformats.org/drawingml/2006/main">
            <a:off x="6515100" y="1619250"/>
            <a:ext cx="5067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41413"/>
                </a:solidFill>
                <a:latin typeface="Arial"/>
                <a:ea typeface="Arial"/>
                <a:cs typeface="Arial"/>
              </a:defRPr>
            </a:defPPr>
          </a:lstStyle>
          <a:p xmlns:a="http://schemas.openxmlformats.org/drawingml/2006/main">
            <a:pPr algn="l">
              <a:defRPr sz="2250" b="0">
                <a:solidFill>
                  <a:srgbClr val="141413"/>
                </a:solidFill>
                <a:latin typeface="Arial"/>
                <a:ea typeface="Arial"/>
                <a:cs typeface="Arial"/>
              </a:defRPr>
            </a:pPr>
            <a:r>
              <a:rPr sz="2250" b="0">
                <a:solidFill>
                  <a:srgbClr val="141413"/>
                </a:solidFill>
                <a:latin typeface="Arial"/>
                <a:ea typeface="Arial"/>
                <a:cs typeface="Arial"/>
              </a:rPr>
              <a:t>What limits the claim</a:t>
            </a:r>
          </a:p>
        </p:txBody>
      </p:sp>
      <p:sp>
        <p:nvSpPr>
          <p:cNvPr id="9" name="shape-143">
            <a:extLst xmlns:a="http://schemas.openxmlformats.org/drawingml/2006/main">
              <a:ext uri="{FF2B5EF4-FFF2-40B4-BE49-F238E27FC236}">
                <a16:creationId xmlns:a16="http://schemas.microsoft.com/office/drawing/2014/main" id="{0F693AC9-17F6-4F48-885F-0F9C2FBFEBFA}"/>
              </a:ext>
            </a:extLst>
          </p:cNvPr>
          <p:cNvSpPr>
            <a:spLocks xmlns:a="http://schemas.openxmlformats.org/drawingml/2006/main" noGrp="1"/>
          </p:cNvSpPr>
          <p:nvPr/>
        </p:nvSpPr>
        <p:spPr>
          <a:xfrm xmlns:a="http://schemas.openxmlformats.org/drawingml/2006/main">
            <a:off x="6515100" y="2219325"/>
            <a:ext cx="5067300" cy="9525"/>
          </a:xfrm>
          <a:prstGeom xmlns:a="http://schemas.openxmlformats.org/drawingml/2006/main" prst="rect">
            <a:avLst/>
          </a:prstGeom>
          <a:solidFill xmlns:a="http://schemas.openxmlformats.org/drawingml/2006/main">
            <a:srgbClr val="D1CDC7"/>
          </a:solidFill>
          <a:ln xmlns:a="http://schemas.openxmlformats.org/drawingml/2006/main" w="0">
            <a:noFill/>
          </a:ln>
        </p:spPr>
      </p:sp>
      <p:sp>
        <p:nvSpPr>
          <p:cNvPr id="10" name="text-144">
            <a:extLst xmlns:a="http://schemas.openxmlformats.org/drawingml/2006/main">
              <a:ext uri="{FF2B5EF4-FFF2-40B4-BE49-F238E27FC236}">
                <a16:creationId xmlns:a16="http://schemas.microsoft.com/office/drawing/2014/main" id="{00EEC29B-A25F-4A96-8903-CA4ADEF52349}"/>
              </a:ext>
            </a:extLst>
          </p:cNvPr>
          <p:cNvSpPr>
            <a:spLocks xmlns:a="http://schemas.openxmlformats.org/drawingml/2006/main" noGrp="1"/>
          </p:cNvSpPr>
          <p:nvPr/>
        </p:nvSpPr>
        <p:spPr>
          <a:xfrm xmlns:a="http://schemas.openxmlformats.org/drawingml/2006/main">
            <a:off x="6515100" y="2600325"/>
            <a:ext cx="50673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1413"/>
                </a:solidFill>
                <a:latin typeface="Arial"/>
                <a:ea typeface="Arial"/>
                <a:cs typeface="Arial"/>
              </a:defRPr>
            </a:defPPr>
          </a:lstStyle>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Exploited CVEs only</a:t>
            </a:r>
          </a:p>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Unknown ransomware links</a:t>
            </a:r>
          </a:p>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Censoring and detection bias</a:t>
            </a:r>
          </a:p>
          <a:p xmlns:a="http://schemas.openxmlformats.org/drawingml/2006/main">
            <a:pPr algn="l">
              <a:defRPr sz="2025" b="0">
                <a:solidFill>
                  <a:srgbClr val="141413"/>
                </a:solidFill>
                <a:latin typeface="Arial"/>
                <a:ea typeface="Arial"/>
                <a:cs typeface="Arial"/>
              </a:defRPr>
            </a:pPr>
            <a:r>
              <a:rPr sz="2025" b="0">
                <a:solidFill>
                  <a:srgbClr val="141413"/>
                </a:solidFill>
                <a:latin typeface="Arial"/>
                <a:ea typeface="Arial"/>
                <a:cs typeface="Arial"/>
              </a:rPr>
              <a:t>Metadata timing and preprocessing</a:t>
            </a:r>
          </a:p>
        </p:txBody>
      </p:sp>
      <p:sp>
        <p:nvSpPr>
          <p:cNvPr id="11" name="shape-145">
            <a:extLst xmlns:a="http://schemas.openxmlformats.org/drawingml/2006/main">
              <a:ext uri="{FF2B5EF4-FFF2-40B4-BE49-F238E27FC236}">
                <a16:creationId xmlns:a16="http://schemas.microsoft.com/office/drawing/2014/main" id="{A1136548-0F33-43E6-B55B-8E9F056F64E8}"/>
              </a:ext>
            </a:extLst>
          </p:cNvPr>
          <p:cNvSpPr>
            <a:spLocks xmlns:a="http://schemas.openxmlformats.org/drawingml/2006/main" noGrp="1"/>
          </p:cNvSpPr>
          <p:nvPr/>
        </p:nvSpPr>
        <p:spPr>
          <a:xfrm xmlns:a="http://schemas.openxmlformats.org/drawingml/2006/main">
            <a:off x="609600" y="5486400"/>
            <a:ext cx="10972800" cy="609600"/>
          </a:xfrm>
          <a:prstGeom xmlns:a="http://schemas.openxmlformats.org/drawingml/2006/main" prst="roundRect">
            <a:avLst>
              <a:gd name="adj" fmla="val 50000"/>
            </a:avLst>
          </a:prstGeom>
          <a:solidFill xmlns:a="http://schemas.openxmlformats.org/drawingml/2006/main">
            <a:srgbClr val="141413"/>
          </a:solidFill>
          <a:ln xmlns:a="http://schemas.openxmlformats.org/drawingml/2006/main" w="0">
            <a:noFill/>
          </a:ln>
        </p:spPr>
      </p:sp>
      <p:sp>
        <p:nvSpPr>
          <p:cNvPr id="12" name="text-146">
            <a:extLst xmlns:a="http://schemas.openxmlformats.org/drawingml/2006/main">
              <a:ext uri="{FF2B5EF4-FFF2-40B4-BE49-F238E27FC236}">
                <a16:creationId xmlns:a16="http://schemas.microsoft.com/office/drawing/2014/main" id="{05F578E5-45C8-48A1-B762-FB679D9AD68F}"/>
              </a:ext>
            </a:extLst>
          </p:cNvPr>
          <p:cNvSpPr>
            <a:spLocks xmlns:a="http://schemas.openxmlformats.org/drawingml/2006/main" noGrp="1"/>
          </p:cNvSpPr>
          <p:nvPr/>
        </p:nvSpPr>
        <p:spPr>
          <a:xfrm xmlns:a="http://schemas.openxmlformats.org/drawingml/2006/main">
            <a:off x="800100" y="5645944"/>
            <a:ext cx="105918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3F0EE"/>
                </a:solidFill>
                <a:latin typeface="Arial"/>
                <a:ea typeface="Arial"/>
                <a:cs typeface="Arial"/>
              </a:defRPr>
            </a:defPPr>
          </a:lstStyle>
          <a:p xmlns:a="http://schemas.openxmlformats.org/drawingml/2006/main">
            <a:pPr algn="ctr">
              <a:defRPr sz="1875" b="0">
                <a:solidFill>
                  <a:srgbClr val="F3F0EE"/>
                </a:solidFill>
                <a:latin typeface="Arial"/>
                <a:ea typeface="Arial"/>
                <a:cs typeface="Arial"/>
              </a:defRPr>
            </a:pPr>
            <a:r>
              <a:rPr sz="1875" b="0">
                <a:solidFill>
                  <a:srgbClr val="F3F0EE"/>
                </a:solidFill>
                <a:latin typeface="Arial"/>
                <a:ea typeface="Arial"/>
                <a:cs typeface="Arial"/>
              </a:rPr>
              <a:t>Next: non-exploited CVEs + dated EPSS + temporal validation</a:t>
            </a:r>
          </a:p>
        </p:txBody>
      </p:sp>
      <p:sp>
        <p:nvSpPr>
          <p:cNvPr id="13" name="text-147">
            <a:extLst xmlns:a="http://schemas.openxmlformats.org/drawingml/2006/main">
              <a:ext uri="{FF2B5EF4-FFF2-40B4-BE49-F238E27FC236}">
                <a16:creationId xmlns:a16="http://schemas.microsoft.com/office/drawing/2014/main" id="{9FC9ACC0-10D7-43A3-B844-B9CEFA4DBDA5}"/>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96969"/>
                </a:solidFill>
                <a:latin typeface="Arial"/>
                <a:ea typeface="Arial"/>
                <a:cs typeface="Arial"/>
              </a:defRPr>
            </a:defPPr>
          </a:lstStyle>
          <a:p xmlns:a="http://schemas.openxmlformats.org/drawingml/2006/main">
            <a:pPr algn="l">
              <a:defRPr sz="1275" b="0">
                <a:solidFill>
                  <a:srgbClr val="696969"/>
                </a:solidFill>
                <a:latin typeface="Arial"/>
                <a:ea typeface="Arial"/>
                <a:cs typeface="Arial"/>
              </a:defRPr>
            </a:pPr>
            <a:r>
              <a:rPr sz="1275" b="0">
                <a:solidFill>
                  <a:srgbClr val="696969"/>
                </a:solidFill>
                <a:latin typeface="Arial"/>
                <a:ea typeface="Arial"/>
                <a:cs typeface="Arial"/>
              </a:rPr>
              <a:t>SSVC and EPSS are relevant frameworks; neither was benchmarked in this study.</a:t>
            </a:r>
          </a:p>
        </p:txBody>
      </p:sp>
    </p:spTree>
    <p:extLst>
      <p:ext uri="{BB962C8B-B14F-4D97-AF65-F5344CB8AC3E}">
        <p14:creationId xmlns:p14="http://schemas.microsoft.com/office/powerpoint/2010/main" val="1383286371"/>
      </p:ext>
    </p:extLst>
  </p:cSld>
</p:sld>
</file>

<file path=ppt/slides/slide13.xml><?xml version="1.0" encoding="utf-8"?>
<p:sld xmlns:p="http://schemas.openxmlformats.org/presentationml/2006/main">
  <p:cSld>
    <p:bg>
      <p:bgPr>
        <a:solidFill xmlns:a="http://schemas.openxmlformats.org/drawingml/2006/main">
          <a:srgbClr val="141413"/>
        </a:solidFill>
      </p:bgPr>
    </p:bg>
    <p:spTree>
      <p:nvGrpSpPr>
        <p:cNvPr id="1" name=""/>
        <p:cNvGrpSpPr/>
        <p:nvPr/>
      </p:nvGrpSpPr>
      <p:grpSpPr>
        <a:xfrm xmlns:a="http://schemas.openxmlformats.org/drawingml/2006/main"/>
      </p:grpSpPr>
      <p:sp>
        <p:nvSpPr>
          <p:cNvPr id="11" name="text-148">
            <a:extLst xmlns:a="http://schemas.openxmlformats.org/drawingml/2006/main">
              <a:ext uri="{FF2B5EF4-FFF2-40B4-BE49-F238E27FC236}">
                <a16:creationId xmlns:a16="http://schemas.microsoft.com/office/drawing/2014/main" id="{F2E6E76F-95A2-4806-BD05-E6C1725F827A}"/>
              </a:ext>
            </a:extLst>
          </p:cNvPr>
          <p:cNvSpPr>
            <a:spLocks xmlns:a="http://schemas.openxmlformats.org/drawingml/2006/main" noGrp="1"/>
          </p:cNvSpPr>
          <p:nvPr/>
        </p:nvSpPr>
        <p:spPr>
          <a:xfrm xmlns:a="http://schemas.openxmlformats.org/drawingml/2006/main">
            <a:off x="609600" y="4762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F3F0EE"/>
                </a:solidFill>
                <a:latin typeface="Arial"/>
                <a:ea typeface="Arial"/>
                <a:cs typeface="Arial"/>
              </a:defRPr>
            </a:defPPr>
          </a:lstStyle>
          <a:p xmlns:a="http://schemas.openxmlformats.org/drawingml/2006/main">
            <a:pPr algn="l">
              <a:defRPr sz="3300" b="0">
                <a:solidFill>
                  <a:srgbClr val="F3F0EE"/>
                </a:solidFill>
                <a:latin typeface="Arial"/>
                <a:ea typeface="Arial"/>
                <a:cs typeface="Arial"/>
              </a:defRPr>
            </a:pPr>
            <a:r>
              <a:rPr sz="3300" b="0">
                <a:solidFill>
                  <a:srgbClr val="F3F0EE"/>
                </a:solidFill>
                <a:latin typeface="Arial"/>
                <a:ea typeface="Arial"/>
                <a:cs typeface="Arial"/>
              </a:rPr>
              <a:t>Questions / links</a:t>
            </a:r>
          </a:p>
        </p:txBody>
      </p:sp>
      <p:sp>
        <p:nvSpPr>
          <p:cNvPr id="2" name="text-149">
            <a:extLst xmlns:a="http://schemas.openxmlformats.org/drawingml/2006/main">
              <a:ext uri="{FF2B5EF4-FFF2-40B4-BE49-F238E27FC236}">
                <a16:creationId xmlns:a16="http://schemas.microsoft.com/office/drawing/2014/main" id="{C21F008D-898F-4FAB-9424-FB4D390DD0D1}"/>
              </a:ext>
            </a:extLst>
          </p:cNvPr>
          <p:cNvSpPr>
            <a:spLocks xmlns:a="http://schemas.openxmlformats.org/drawingml/2006/main" noGrp="1"/>
          </p:cNvSpPr>
          <p:nvPr/>
        </p:nvSpPr>
        <p:spPr>
          <a:xfrm xmlns:a="http://schemas.openxmlformats.org/drawingml/2006/main">
            <a:off x="11144250" y="63722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D1CDC7"/>
                </a:solidFill>
                <a:latin typeface="Arial"/>
                <a:ea typeface="Arial"/>
                <a:cs typeface="Arial"/>
              </a:defRPr>
            </a:defPPr>
          </a:lstStyle>
          <a:p xmlns:a="http://schemas.openxmlformats.org/drawingml/2006/main">
            <a:pPr algn="r">
              <a:defRPr sz="1275" b="0">
                <a:solidFill>
                  <a:srgbClr val="D1CDC7"/>
                </a:solidFill>
                <a:latin typeface="Arial"/>
                <a:ea typeface="Arial"/>
                <a:cs typeface="Arial"/>
              </a:defRPr>
            </a:pPr>
            <a:r>
              <a:rPr sz="1275" b="0">
                <a:solidFill>
                  <a:srgbClr val="D1CDC7"/>
                </a:solidFill>
                <a:latin typeface="Arial"/>
                <a:ea typeface="Arial"/>
                <a:cs typeface="Arial"/>
              </a:rPr>
              <a:t>13</a:t>
            </a:r>
          </a:p>
        </p:txBody>
      </p:sp>
      <p:sp>
        <p:nvSpPr>
          <p:cNvPr id="3" name="text-150">
            <a:extLst xmlns:a="http://schemas.openxmlformats.org/drawingml/2006/main">
              <a:ext uri="{FF2B5EF4-FFF2-40B4-BE49-F238E27FC236}">
                <a16:creationId xmlns:a16="http://schemas.microsoft.com/office/drawing/2014/main" id="{5E8B6573-1085-4511-8B50-0B61A27B7CEA}"/>
              </a:ext>
            </a:extLst>
          </p:cNvPr>
          <p:cNvSpPr>
            <a:spLocks xmlns:a="http://schemas.openxmlformats.org/drawingml/2006/main" noGrp="1"/>
          </p:cNvSpPr>
          <p:nvPr/>
        </p:nvSpPr>
        <p:spPr>
          <a:xfrm xmlns:a="http://schemas.openxmlformats.org/drawingml/2006/main">
            <a:off x="609600" y="1762125"/>
            <a:ext cx="615315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3F0EE"/>
                </a:solidFill>
                <a:latin typeface="Arial"/>
                <a:ea typeface="Arial"/>
                <a:cs typeface="Arial"/>
              </a:defRPr>
            </a:defPPr>
          </a:lstStyle>
          <a:p xmlns:a="http://schemas.openxmlformats.org/drawingml/2006/main">
            <a:pPr algn="l">
              <a:defRPr sz="3600" b="0">
                <a:solidFill>
                  <a:srgbClr val="F3F0EE"/>
                </a:solidFill>
                <a:latin typeface="Arial"/>
                <a:ea typeface="Arial"/>
                <a:cs typeface="Arial"/>
              </a:defRPr>
            </a:pPr>
            <a:r>
              <a:rPr sz="3600" b="0">
                <a:solidFill>
                  <a:srgbClr val="F3F0EE"/>
                </a:solidFill>
                <a:latin typeface="Arial"/>
                <a:ea typeface="Arial"/>
                <a:cs typeface="Arial"/>
              </a:rPr>
              <a:t>Two questions.</a:t>
            </a:r>
          </a:p>
          <a:p xmlns:a="http://schemas.openxmlformats.org/drawingml/2006/main">
            <a:pPr algn="l">
              <a:defRPr sz="3600" b="0">
                <a:solidFill>
                  <a:srgbClr val="F3F0EE"/>
                </a:solidFill>
                <a:latin typeface="Arial"/>
                <a:ea typeface="Arial"/>
                <a:cs typeface="Arial"/>
              </a:defRPr>
            </a:pPr>
            <a:r>
              <a:rPr sz="3600" b="0">
                <a:solidFill>
                  <a:srgbClr val="F3F0EE"/>
                </a:solidFill>
                <a:latin typeface="Arial"/>
                <a:ea typeface="Arial"/>
                <a:cs typeface="Arial"/>
              </a:rPr>
              <a:t>One dead end.</a:t>
            </a:r>
          </a:p>
          <a:p xmlns:a="http://schemas.openxmlformats.org/drawingml/2006/main">
            <a:pPr algn="l">
              <a:defRPr sz="3600" b="0">
                <a:solidFill>
                  <a:srgbClr val="F3F0EE"/>
                </a:solidFill>
                <a:latin typeface="Arial"/>
                <a:ea typeface="Arial"/>
                <a:cs typeface="Arial"/>
              </a:defRPr>
            </a:pPr>
            <a:r>
              <a:rPr sz="3600" b="0">
                <a:solidFill>
                  <a:srgbClr val="F3F0EE"/>
                </a:solidFill>
                <a:latin typeface="Arial"/>
                <a:ea typeface="Arial"/>
                <a:cs typeface="Arial"/>
              </a:rPr>
              <a:t>One modest signal.</a:t>
            </a:r>
          </a:p>
        </p:txBody>
      </p:sp>
      <p:sp>
        <p:nvSpPr>
          <p:cNvPr id="4" name="text-151">
            <a:extLst xmlns:a="http://schemas.openxmlformats.org/drawingml/2006/main">
              <a:ext uri="{FF2B5EF4-FFF2-40B4-BE49-F238E27FC236}">
                <a16:creationId xmlns:a16="http://schemas.microsoft.com/office/drawing/2014/main" id="{2FCFE384-9E00-4024-927B-1E4A4CE43CEB}"/>
              </a:ext>
            </a:extLst>
          </p:cNvPr>
          <p:cNvSpPr>
            <a:spLocks xmlns:a="http://schemas.openxmlformats.org/drawingml/2006/main" noGrp="1"/>
          </p:cNvSpPr>
          <p:nvPr/>
        </p:nvSpPr>
        <p:spPr>
          <a:xfrm xmlns:a="http://schemas.openxmlformats.org/drawingml/2006/main">
            <a:off x="7315200" y="1828800"/>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1CDC7"/>
                </a:solidFill>
                <a:latin typeface="Arial"/>
                <a:ea typeface="Arial"/>
                <a:cs typeface="Arial"/>
              </a:defRPr>
            </a:defPPr>
          </a:lstStyle>
          <a:p xmlns:a="http://schemas.openxmlformats.org/drawingml/2006/main">
            <a:pPr algn="l">
              <a:defRPr sz="1650" b="0">
                <a:solidFill>
                  <a:srgbClr val="D1CDC7"/>
                </a:solidFill>
                <a:latin typeface="Arial"/>
                <a:ea typeface="Arial"/>
                <a:cs typeface="Arial"/>
              </a:defRPr>
            </a:pPr>
            <a:r>
              <a:rPr sz="1650" b="0">
                <a:solidFill>
                  <a:srgbClr val="D1CDC7"/>
                </a:solidFill>
                <a:latin typeface="Arial"/>
                <a:ea typeface="Arial"/>
                <a:cs typeface="Arial"/>
              </a:rPr>
              <a:t>Project repository</a:t>
            </a:r>
          </a:p>
        </p:txBody>
      </p:sp>
      <p:sp>
        <p:nvSpPr>
          <p:cNvPr id="5" name="text-152">
            <a:extLst xmlns:a="http://schemas.openxmlformats.org/drawingml/2006/main">
              <a:ext uri="{FF2B5EF4-FFF2-40B4-BE49-F238E27FC236}">
                <a16:creationId xmlns:a16="http://schemas.microsoft.com/office/drawing/2014/main" id="{B22D3307-4567-40A5-9362-7258D12E2EAC}"/>
              </a:ext>
            </a:extLst>
          </p:cNvPr>
          <p:cNvSpPr>
            <a:spLocks xmlns:a="http://schemas.openxmlformats.org/drawingml/2006/main" noGrp="1"/>
          </p:cNvSpPr>
          <p:nvPr/>
        </p:nvSpPr>
        <p:spPr>
          <a:xfrm xmlns:a="http://schemas.openxmlformats.org/drawingml/2006/main">
            <a:off x="7315200" y="2295525"/>
            <a:ext cx="42672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0EE"/>
                </a:solidFill>
                <a:latin typeface="Arial"/>
                <a:ea typeface="Arial"/>
                <a:cs typeface="Arial"/>
              </a:defRPr>
            </a:defPPr>
          </a:lstStyle>
          <a:p xmlns:a="http://schemas.openxmlformats.org/drawingml/2006/main">
            <a:pPr algn="l">
              <a:defRPr sz="1875" b="0">
                <a:solidFill>
                  <a:srgbClr val="F3F0EE"/>
                </a:solidFill>
                <a:latin typeface="Arial"/>
                <a:ea typeface="Arial"/>
                <a:cs typeface="Arial"/>
              </a:defRPr>
            </a:pPr>
            <a:r>
              <a:rPr sz="1875" b="0">
                <a:solidFill>
                  <a:srgbClr val="F3F0EE"/>
                </a:solidFill>
                <a:latin typeface="Arial"/>
                <a:ea typeface="Arial"/>
                <a:cs typeface="Arial"/>
                <a:hlinkClick xmlns:r="http://schemas.openxmlformats.org/officeDocument/2006/relationships" r:id="Rf9766e59a5664b4a"/>
              </a:rPr>
              <a:t>https://github.com/Maverick-5/kev-ransomware-analysis</a:t>
            </a:r>
          </a:p>
        </p:txBody>
      </p:sp>
      <p:sp>
        <p:nvSpPr>
          <p:cNvPr id="6" name="text-153">
            <a:extLst xmlns:a="http://schemas.openxmlformats.org/drawingml/2006/main">
              <a:ext uri="{FF2B5EF4-FFF2-40B4-BE49-F238E27FC236}">
                <a16:creationId xmlns:a16="http://schemas.microsoft.com/office/drawing/2014/main" id="{1D4BA525-0C08-42EC-8999-B1CABDA0087B}"/>
              </a:ext>
            </a:extLst>
          </p:cNvPr>
          <p:cNvSpPr>
            <a:spLocks xmlns:a="http://schemas.openxmlformats.org/drawingml/2006/main" noGrp="1"/>
          </p:cNvSpPr>
          <p:nvPr/>
        </p:nvSpPr>
        <p:spPr>
          <a:xfrm xmlns:a="http://schemas.openxmlformats.org/drawingml/2006/main">
            <a:off x="7315200" y="360045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0EE"/>
                </a:solidFill>
                <a:latin typeface="Arial"/>
                <a:ea typeface="Arial"/>
                <a:cs typeface="Arial"/>
              </a:defRPr>
            </a:defPPr>
          </a:lstStyle>
          <a:p xmlns:a="http://schemas.openxmlformats.org/drawingml/2006/main">
            <a:pPr algn="l">
              <a:defRPr sz="2025" b="0">
                <a:solidFill>
                  <a:srgbClr val="F3F0EE"/>
                </a:solidFill>
                <a:latin typeface="Arial"/>
                <a:ea typeface="Arial"/>
                <a:cs typeface="Arial"/>
              </a:defRPr>
            </a:pPr>
            <a:r>
              <a:rPr sz="2025" b="0">
                <a:solidFill>
                  <a:srgbClr val="F3F0EE"/>
                </a:solidFill>
                <a:latin typeface="Arial"/>
                <a:ea typeface="Arial"/>
                <a:cs typeface="Arial"/>
                <a:hlinkClick xmlns:r="http://schemas.openxmlformats.org/officeDocument/2006/relationships" r:id="R1cb65f2bf8694500"/>
              </a:rPr>
              <a:t>CISA KEV ↗</a:t>
            </a:r>
          </a:p>
        </p:txBody>
      </p:sp>
      <p:sp>
        <p:nvSpPr>
          <p:cNvPr id="7" name="text-154">
            <a:extLst xmlns:a="http://schemas.openxmlformats.org/drawingml/2006/main">
              <a:ext uri="{FF2B5EF4-FFF2-40B4-BE49-F238E27FC236}">
                <a16:creationId xmlns:a16="http://schemas.microsoft.com/office/drawing/2014/main" id="{F2914818-A940-4856-AEDB-D338F59262D0}"/>
              </a:ext>
            </a:extLst>
          </p:cNvPr>
          <p:cNvSpPr>
            <a:spLocks xmlns:a="http://schemas.openxmlformats.org/drawingml/2006/main" noGrp="1"/>
          </p:cNvSpPr>
          <p:nvPr/>
        </p:nvSpPr>
        <p:spPr>
          <a:xfrm xmlns:a="http://schemas.openxmlformats.org/drawingml/2006/main">
            <a:off x="7315200" y="4181475"/>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0EE"/>
                </a:solidFill>
                <a:latin typeface="Arial"/>
                <a:ea typeface="Arial"/>
                <a:cs typeface="Arial"/>
              </a:defRPr>
            </a:defPPr>
          </a:lstStyle>
          <a:p xmlns:a="http://schemas.openxmlformats.org/drawingml/2006/main">
            <a:pPr algn="l">
              <a:defRPr sz="2025" b="0">
                <a:solidFill>
                  <a:srgbClr val="F3F0EE"/>
                </a:solidFill>
                <a:latin typeface="Arial"/>
                <a:ea typeface="Arial"/>
                <a:cs typeface="Arial"/>
              </a:defRPr>
            </a:pPr>
            <a:r>
              <a:rPr sz="2025" b="0">
                <a:solidFill>
                  <a:srgbClr val="F3F0EE"/>
                </a:solidFill>
                <a:latin typeface="Arial"/>
                <a:ea typeface="Arial"/>
                <a:cs typeface="Arial"/>
                <a:hlinkClick xmlns:r="http://schemas.openxmlformats.org/officeDocument/2006/relationships" r:id="Rd6c07eb4a0954672"/>
              </a:rPr>
              <a:t>MITRE / CVE records ↗</a:t>
            </a:r>
          </a:p>
        </p:txBody>
      </p:sp>
      <p:sp>
        <p:nvSpPr>
          <p:cNvPr id="8" name="shape-155">
            <a:extLst xmlns:a="http://schemas.openxmlformats.org/drawingml/2006/main">
              <a:ext uri="{FF2B5EF4-FFF2-40B4-BE49-F238E27FC236}">
                <a16:creationId xmlns:a16="http://schemas.microsoft.com/office/drawing/2014/main" id="{791B57E0-0D02-4DE4-AAF7-AB35EE697224}"/>
              </a:ext>
            </a:extLst>
          </p:cNvPr>
          <p:cNvSpPr>
            <a:spLocks xmlns:a="http://schemas.openxmlformats.org/drawingml/2006/main" noGrp="1"/>
          </p:cNvSpPr>
          <p:nvPr/>
        </p:nvSpPr>
        <p:spPr>
          <a:xfrm xmlns:a="http://schemas.openxmlformats.org/drawingml/2006/main">
            <a:off x="609600" y="5181600"/>
            <a:ext cx="10972800" cy="9525"/>
          </a:xfrm>
          <a:prstGeom xmlns:a="http://schemas.openxmlformats.org/drawingml/2006/main" prst="rect">
            <a:avLst/>
          </a:prstGeom>
          <a:solidFill xmlns:a="http://schemas.openxmlformats.org/drawingml/2006/main">
            <a:srgbClr val="555555"/>
          </a:solidFill>
          <a:ln xmlns:a="http://schemas.openxmlformats.org/drawingml/2006/main" w="0">
            <a:noFill/>
          </a:ln>
        </p:spPr>
      </p:sp>
      <p:sp>
        <p:nvSpPr>
          <p:cNvPr id="9" name="text-156">
            <a:extLst xmlns:a="http://schemas.openxmlformats.org/drawingml/2006/main">
              <a:ext uri="{FF2B5EF4-FFF2-40B4-BE49-F238E27FC236}">
                <a16:creationId xmlns:a16="http://schemas.microsoft.com/office/drawing/2014/main" id="{876606B4-374C-498C-B370-85CE765F8A79}"/>
              </a:ext>
            </a:extLst>
          </p:cNvPr>
          <p:cNvSpPr>
            <a:spLocks xmlns:a="http://schemas.openxmlformats.org/drawingml/2006/main" noGrp="1"/>
          </p:cNvSpPr>
          <p:nvPr/>
        </p:nvSpPr>
        <p:spPr>
          <a:xfrm xmlns:a="http://schemas.openxmlformats.org/drawingml/2006/main">
            <a:off x="609600" y="5562600"/>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0EE"/>
                </a:solidFill>
                <a:latin typeface="Arial"/>
                <a:ea typeface="Arial"/>
                <a:cs typeface="Arial"/>
              </a:defRPr>
            </a:defPPr>
          </a:lstStyle>
          <a:p xmlns:a="http://schemas.openxmlformats.org/drawingml/2006/main">
            <a:pPr algn="l">
              <a:defRPr sz="2025" b="0">
                <a:solidFill>
                  <a:srgbClr val="F3F0EE"/>
                </a:solidFill>
                <a:latin typeface="Arial"/>
                <a:ea typeface="Arial"/>
                <a:cs typeface="Arial"/>
              </a:defRPr>
            </a:pPr>
            <a:r>
              <a:rPr sz="2025" b="0">
                <a:solidFill>
                  <a:srgbClr val="F3F0EE"/>
                </a:solidFill>
                <a:latin typeface="Arial"/>
                <a:ea typeface="Arial"/>
                <a:cs typeface="Arial"/>
              </a:rPr>
              <a:t>Seed 42 · pinned analysis packages</a:t>
            </a:r>
          </a:p>
        </p:txBody>
      </p:sp>
      <p:sp>
        <p:nvSpPr>
          <p:cNvPr id="10" name="text-157">
            <a:extLst xmlns:a="http://schemas.openxmlformats.org/drawingml/2006/main">
              <a:ext uri="{FF2B5EF4-FFF2-40B4-BE49-F238E27FC236}">
                <a16:creationId xmlns:a16="http://schemas.microsoft.com/office/drawing/2014/main" id="{BBDD09EC-7248-456F-98AC-F1F23688A2E7}"/>
              </a:ext>
            </a:extLst>
          </p:cNvPr>
          <p:cNvSpPr>
            <a:spLocks xmlns:a="http://schemas.openxmlformats.org/drawingml/2006/main" noGrp="1"/>
          </p:cNvSpPr>
          <p:nvPr/>
        </p:nvSpPr>
        <p:spPr>
          <a:xfrm xmlns:a="http://schemas.openxmlformats.org/drawingml/2006/main">
            <a:off x="609600" y="63722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D1CDC7"/>
                </a:solidFill>
                <a:latin typeface="Arial"/>
                <a:ea typeface="Arial"/>
                <a:cs typeface="Arial"/>
              </a:defRPr>
            </a:defPPr>
          </a:lstStyle>
          <a:p xmlns:a="http://schemas.openxmlformats.org/drawingml/2006/main">
            <a:pPr algn="l">
              <a:defRPr sz="1275" b="0">
                <a:solidFill>
                  <a:srgbClr val="D1CDC7"/>
                </a:solidFill>
                <a:latin typeface="Arial"/>
                <a:ea typeface="Arial"/>
                <a:cs typeface="Arial"/>
              </a:defRPr>
            </a:pPr>
            <a:r>
              <a:rPr sz="1275" b="0">
                <a:solidFill>
                  <a:srgbClr val="D1CDC7"/>
                </a:solidFill>
                <a:latin typeface="Arial"/>
                <a:ea typeface="Arial"/>
                <a:cs typeface="Arial"/>
              </a:rPr>
              <a:t>Retrospective snapshot. Python/Jupyter are not fully pinned; threshold metrics are version-sensitive.</a:t>
            </a:r>
          </a:p>
        </p:txBody>
      </p:sp>
    </p:spTree>
    <p:extLst>
      <p:ext uri="{BB962C8B-B14F-4D97-AF65-F5344CB8AC3E}">
        <p14:creationId xmlns:p14="http://schemas.microsoft.com/office/powerpoint/2010/main" val="5557675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2026-10-09T17:09:09.1740000Z</dcterms:created>
  <dcterms:modified xsi:type="dcterms:W3CDTF">2026-10-09T17:09:09.1750000Z</dcterms:modified>
</coreProperties>
</file>